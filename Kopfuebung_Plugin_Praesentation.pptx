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3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84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76CE91-F226-2551-2B61-078985AEE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1527821-AB12-DF67-C011-6C3FB6D23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4C0A06-C5B5-1417-3A9E-8222251C0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E3232A-B833-2573-924F-DD1795FF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77D7E3-E16E-A897-8A1C-7196E869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530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8C77FD-A6D5-18FE-BF3E-94A77F622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BD5196-D251-3CB6-47AE-BB35A1AE3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A6315-FE43-5CA1-1EFA-1EB742B3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D94C56-9058-AB7B-5ED9-A12D2638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D7744B-D528-EF7B-D7A3-26562356F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2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2B741B-A8EC-9A7C-37C4-DE5AAB0FD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334834-9CA4-4329-7D24-76ACF1E21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764F7E-1DB5-B59E-F813-91F42F956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D8F439-D078-956D-059C-841B08D0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A4DAF8-2D1A-9F01-1CE3-C73368E5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8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E975C6-D14F-15DD-E985-6969983B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EC007E-A05E-EFA5-C009-A9E11AC1A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CEC87A-CC97-CF8E-D274-EAD01FE4F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84615E-8B5D-A844-F73E-13B311ED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4821BE-FA8E-A0E8-E228-798CFE03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450CE2-E7A7-1D4B-A9EE-28C1B950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996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F7BAA4-CF72-6C2F-8583-CB622DC62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BB3477-6AED-986B-F30B-E1BADF9A4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1569B7-ED6C-8DDE-2AA5-E60468186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6AAE07E-8ABB-063C-83F9-45592F91E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AF01D0E-EB5D-6D5F-04D1-C5CF51E91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88B7E3-6CF8-5541-F1D3-673DC8620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04F8A3-58B8-A1DA-4F60-95BA59F6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17D5476-D76C-8A93-19F2-987BD402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06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38AF6-BEFF-23EB-E15D-B34833AA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7A8F98-7CFC-DD63-A56F-54A02580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06692C-DA0A-5358-6AC5-C7D6D5A5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293CB2-1894-D757-B84E-5B0E6C56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792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ABA50BC-04A4-5339-B13F-4A4F07F72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06378D7-EA5D-A74A-94FE-1E7FC06A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0F76F8-CF58-07DA-46B7-3622CA90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125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5BBE3D-FF79-7FDA-7525-0D0531F15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109CF4-8555-F875-6C4B-64BE9DF12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EB7A39-85FD-BDC3-A508-20C28B10C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687BCD-54E6-4A00-A018-E86AA6323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5B5814-A465-7E8A-AD8A-6A354817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4065FC-2004-501F-7BD4-E174DA80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579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42E342-B38E-14E7-6D2E-6BF2EBE6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E0A074-C97D-B47B-DF7D-1B0640E6D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E1CDC9F-6E38-D128-B07B-DC250545A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DCE37F-EB20-2501-8801-D156EF9B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78E2F5-0A12-8F6B-7C2D-440F10BE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5AB52-4B30-8D8B-72CD-9834359C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279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ECBD96-4E8F-320B-1E14-26FB5211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CF6F0C-75E7-C6E0-1282-D3785A391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54A256-2E6C-2A53-E9C4-12CF7447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46CC73-69C6-5685-944D-E4A24CF4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6B93E4-9180-4B67-BCB4-1AD55EE6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22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8BEB675-E036-02C4-EFED-F942F29BD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C0B42C-A2F9-3D90-ADD9-7CF9763BC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61BAD8-F23C-A449-B1EB-FBE1D908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735EB2-A996-3280-5B15-C430241C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5F3F90-FBC8-8F06-1B24-511621B5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45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C2C7D0A-7076-02F8-F7BE-6404ABAA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E86F75-B7F5-BFC0-1341-38B3E7299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56E50F-4E2B-E7A5-014F-1277996CD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8D4A7-93F7-4FE8-BFE3-8B39EFF297C5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CBD310-776C-1FD0-75B8-C8657B119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196733-DF96-E2E4-101F-18C3BCDA6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AE16C-B284-45A9-86C9-C34BA6CF32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66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53AC658-D374-EAAF-3A74-C336F15D66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844"/>
          </a:solidFill>
          <a:ln w="12700">
            <a:solidFill>
              <a:srgbClr val="182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BC6E7BD-9E03-B69B-3DF4-21D0F1E5594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FFAD1AC-3531-600B-4709-3F177CB813C2}"/>
              </a:ext>
            </a:extLst>
          </p:cNvPr>
          <p:cNvSpPr txBox="1"/>
          <p:nvPr/>
        </p:nvSpPr>
        <p:spPr>
          <a:xfrm>
            <a:off x="787400" y="7366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300" b="1" dirty="0" err="1">
                <a:solidFill>
                  <a:srgbClr val="4AB4E1"/>
                </a:solidFill>
                <a:latin typeface="Aptos" panose="020B0004020202020204" pitchFamily="34" charset="0"/>
              </a:rPr>
              <a:t>Moodle</a:t>
            </a:r>
            <a:r>
              <a:rPr lang="de-DE" sz="1300" b="1" dirty="0">
                <a:solidFill>
                  <a:srgbClr val="4AB4E1"/>
                </a:solidFill>
                <a:latin typeface="Aptos" panose="020B0004020202020204" pitchFamily="34" charset="0"/>
              </a:rPr>
              <a:t> Plugin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48E3133-F783-4884-8B5B-C2918A666B4F}"/>
              </a:ext>
            </a:extLst>
          </p:cNvPr>
          <p:cNvSpPr txBox="1"/>
          <p:nvPr/>
        </p:nvSpPr>
        <p:spPr>
          <a:xfrm>
            <a:off x="787400" y="1397000"/>
            <a:ext cx="9652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3800" b="1" dirty="0">
                <a:solidFill>
                  <a:srgbClr val="FFFFFF"/>
                </a:solidFill>
                <a:latin typeface="Aptos" panose="020B0004020202020204" pitchFamily="34" charset="0"/>
              </a:rPr>
              <a:t>Kopfübungen in </a:t>
            </a:r>
            <a:r>
              <a:rPr lang="de-DE" sz="3800" b="1" dirty="0" err="1">
                <a:solidFill>
                  <a:srgbClr val="FFFFFF"/>
                </a:solidFill>
                <a:latin typeface="Aptos" panose="020B0004020202020204" pitchFamily="34" charset="0"/>
              </a:rPr>
              <a:t>Moodle</a:t>
            </a:r>
            <a:endParaRPr lang="de-DE" sz="3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C6B8DAD-2BEF-AF69-6DA9-2B3E245ECC4B}"/>
              </a:ext>
            </a:extLst>
          </p:cNvPr>
          <p:cNvSpPr txBox="1"/>
          <p:nvPr/>
        </p:nvSpPr>
        <p:spPr>
          <a:xfrm>
            <a:off x="825500" y="3073400"/>
            <a:ext cx="9017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 dirty="0">
                <a:solidFill>
                  <a:srgbClr val="EEE2D8"/>
                </a:solidFill>
                <a:latin typeface="Aptos" panose="020B0004020202020204" pitchFamily="34" charset="0"/>
              </a:rPr>
              <a:t>Von der Einrichtung über den gemeinsamen Start bis zur Reflexion und Analyse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FF9BD23-4E12-A1A3-FF5D-36AF5F02052E}"/>
              </a:ext>
            </a:extLst>
          </p:cNvPr>
          <p:cNvSpPr/>
          <p:nvPr/>
        </p:nvSpPr>
        <p:spPr>
          <a:xfrm>
            <a:off x="787400" y="4445000"/>
            <a:ext cx="6731000" cy="1168400"/>
          </a:xfrm>
          <a:prstGeom prst="roundRect">
            <a:avLst/>
          </a:prstGeom>
          <a:solidFill>
            <a:srgbClr val="233556"/>
          </a:solidFill>
          <a:ln w="12700">
            <a:solidFill>
              <a:srgbClr val="233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5F3B0AF-70E6-AFA1-ACF7-157AA181D5CD}"/>
              </a:ext>
            </a:extLst>
          </p:cNvPr>
          <p:cNvSpPr txBox="1"/>
          <p:nvPr/>
        </p:nvSpPr>
        <p:spPr>
          <a:xfrm>
            <a:off x="1092200" y="4737100"/>
            <a:ext cx="609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400" b="1" dirty="0">
                <a:solidFill>
                  <a:srgbClr val="FFFFFF"/>
                </a:solidFill>
                <a:latin typeface="Aptos" panose="020B0004020202020204" pitchFamily="34" charset="0"/>
              </a:rPr>
              <a:t>Plugin-Version 2026081300</a:t>
            </a:r>
          </a:p>
          <a:p>
            <a:r>
              <a:rPr lang="de-DE" sz="1400" b="1" dirty="0">
                <a:solidFill>
                  <a:srgbClr val="FFFFFF"/>
                </a:solidFill>
                <a:latin typeface="Aptos" panose="020B0004020202020204" pitchFamily="34" charset="0"/>
              </a:rPr>
              <a:t>Präsentation mit exemplarischen Screenshots</a:t>
            </a:r>
          </a:p>
          <a:p>
            <a:r>
              <a:rPr lang="de-DE" sz="1400" b="1" dirty="0">
                <a:solidFill>
                  <a:srgbClr val="FFFFFF"/>
                </a:solidFill>
                <a:latin typeface="Aptos" panose="020B0004020202020204" pitchFamily="34" charset="0"/>
              </a:rPr>
              <a:t>Autor</a:t>
            </a:r>
            <a:r>
              <a:rPr lang="de-DE" sz="1400" b="1">
                <a:solidFill>
                  <a:srgbClr val="FFFFFF"/>
                </a:solidFill>
                <a:latin typeface="Aptos" panose="020B0004020202020204" pitchFamily="34" charset="0"/>
              </a:rPr>
              <a:t>: Yannic Kalka</a:t>
            </a:r>
            <a:endParaRPr lang="de-DE" sz="1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D9BF8EF-DE42-49FF-5E03-7FAFBA83556F}"/>
              </a:ext>
            </a:extLst>
          </p:cNvPr>
          <p:cNvSpPr txBox="1"/>
          <p:nvPr/>
        </p:nvSpPr>
        <p:spPr>
          <a:xfrm>
            <a:off x="8255000" y="57785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400" b="1">
                <a:solidFill>
                  <a:srgbClr val="4AB4E1"/>
                </a:solidFill>
                <a:latin typeface="Aptos" panose="020B0004020202020204" pitchFamily="34" charset="0"/>
              </a:rPr>
              <a:t>Lehrkraft  →  Schüler:innen  →  Diagnose</a:t>
            </a:r>
          </a:p>
        </p:txBody>
      </p:sp>
    </p:spTree>
    <p:extLst>
      <p:ext uri="{BB962C8B-B14F-4D97-AF65-F5344CB8AC3E}">
        <p14:creationId xmlns:p14="http://schemas.microsoft.com/office/powerpoint/2010/main" val="222342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354D567-CAA3-E7FA-49F3-027A29FACC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30B6C6E-F70F-CA4A-7E8D-BAD96A8A04C7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2221A2E-E63E-85BC-75ED-417C10F65CBE}"/>
              </a:ext>
            </a:extLst>
          </p:cNvPr>
          <p:cNvSpPr txBox="1"/>
          <p:nvPr/>
        </p:nvSpPr>
        <p:spPr>
          <a:xfrm>
            <a:off x="609600" y="342900"/>
            <a:ext cx="508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00" b="1">
                <a:solidFill>
                  <a:srgbClr val="166DC9"/>
                </a:solidFill>
                <a:latin typeface="Aptos" panose="020B0004020202020204" pitchFamily="34" charset="0"/>
              </a:rPr>
              <a:t>01 · ÜBERBLICK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05489C-97BA-5232-AA48-286C2F26CC80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800" b="1">
                <a:solidFill>
                  <a:srgbClr val="182844"/>
                </a:solidFill>
                <a:latin typeface="Aptos" panose="020B0004020202020204" pitchFamily="34" charset="0"/>
              </a:rPr>
              <a:t>Was das Plugin leistet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2B6B778-A4C2-8318-A92D-3BAB1F53774B}"/>
              </a:ext>
            </a:extLst>
          </p:cNvPr>
          <p:cNvSpPr txBox="1"/>
          <p:nvPr/>
        </p:nvSpPr>
        <p:spPr>
          <a:xfrm>
            <a:off x="10414000" y="64770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CA2A892-E08B-77D5-19A6-DD920EA98627}"/>
              </a:ext>
            </a:extLst>
          </p:cNvPr>
          <p:cNvSpPr txBox="1"/>
          <p:nvPr/>
        </p:nvSpPr>
        <p:spPr>
          <a:xfrm>
            <a:off x="609600" y="1422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dirty="0">
                <a:solidFill>
                  <a:srgbClr val="38312E"/>
                </a:solidFill>
                <a:latin typeface="Aptos" panose="020B0004020202020204" pitchFamily="34" charset="0"/>
              </a:rPr>
              <a:t>Eine zeitgesteuerte </a:t>
            </a:r>
            <a:r>
              <a:rPr lang="de-DE" dirty="0" err="1">
                <a:solidFill>
                  <a:srgbClr val="38312E"/>
                </a:solidFill>
                <a:latin typeface="Aptos" panose="020B0004020202020204" pitchFamily="34" charset="0"/>
              </a:rPr>
              <a:t>Moodle</a:t>
            </a:r>
            <a:r>
              <a:rPr lang="de-DE" dirty="0">
                <a:solidFill>
                  <a:srgbClr val="38312E"/>
                </a:solidFill>
                <a:latin typeface="Aptos" panose="020B0004020202020204" pitchFamily="34" charset="0"/>
              </a:rPr>
              <a:t>-Aktivität, die das Konzept der Kopfübungen in </a:t>
            </a:r>
            <a:r>
              <a:rPr lang="de-DE" dirty="0" err="1">
                <a:solidFill>
                  <a:srgbClr val="38312E"/>
                </a:solidFill>
                <a:latin typeface="Aptos" panose="020B0004020202020204" pitchFamily="34" charset="0"/>
              </a:rPr>
              <a:t>Moodle</a:t>
            </a:r>
            <a:r>
              <a:rPr lang="de-DE" dirty="0">
                <a:solidFill>
                  <a:srgbClr val="38312E"/>
                </a:solidFill>
                <a:latin typeface="Aptos" panose="020B0004020202020204" pitchFamily="34" charset="0"/>
              </a:rPr>
              <a:t> abbilden soll.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94D2CD38-B194-ED8E-5981-5E93C88936AB}"/>
              </a:ext>
            </a:extLst>
          </p:cNvPr>
          <p:cNvSpPr/>
          <p:nvPr/>
        </p:nvSpPr>
        <p:spPr>
          <a:xfrm>
            <a:off x="609600" y="2222500"/>
            <a:ext cx="3429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9B6C40C-6233-4FCF-090F-0681836373ED}"/>
              </a:ext>
            </a:extLst>
          </p:cNvPr>
          <p:cNvSpPr/>
          <p:nvPr/>
        </p:nvSpPr>
        <p:spPr>
          <a:xfrm>
            <a:off x="609600" y="2222500"/>
            <a:ext cx="88900" cy="14605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B695FC7-EBF0-2E5D-70B8-EE4B8D4EC6B4}"/>
              </a:ext>
            </a:extLst>
          </p:cNvPr>
          <p:cNvSpPr txBox="1"/>
          <p:nvPr/>
        </p:nvSpPr>
        <p:spPr>
          <a:xfrm>
            <a:off x="889000" y="2425700"/>
            <a:ext cx="294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 b="1">
                <a:solidFill>
                  <a:srgbClr val="182844"/>
                </a:solidFill>
                <a:latin typeface="Aptos" panose="020B0004020202020204" pitchFamily="34" charset="0"/>
              </a:rPr>
              <a:t>Steuern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ABFC0A5-A7AA-59B0-9CE9-282CD761ED67}"/>
              </a:ext>
            </a:extLst>
          </p:cNvPr>
          <p:cNvSpPr txBox="1"/>
          <p:nvPr/>
        </p:nvSpPr>
        <p:spPr>
          <a:xfrm>
            <a:off x="889000" y="28321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300" dirty="0">
                <a:solidFill>
                  <a:srgbClr val="837B77"/>
                </a:solidFill>
                <a:latin typeface="Aptos" panose="020B0004020202020204" pitchFamily="34" charset="0"/>
              </a:rPr>
              <a:t>Lehrkraft startet und stoppt zentral. Zeitablauf schließt automatisch.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341ED82-E519-EDDE-AE92-3938456798B2}"/>
              </a:ext>
            </a:extLst>
          </p:cNvPr>
          <p:cNvSpPr/>
          <p:nvPr/>
        </p:nvSpPr>
        <p:spPr>
          <a:xfrm>
            <a:off x="4356100" y="2222500"/>
            <a:ext cx="3429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C6A4407-F877-92EA-A5F6-20AA1777F410}"/>
              </a:ext>
            </a:extLst>
          </p:cNvPr>
          <p:cNvSpPr/>
          <p:nvPr/>
        </p:nvSpPr>
        <p:spPr>
          <a:xfrm>
            <a:off x="4356100" y="2222500"/>
            <a:ext cx="88900" cy="1460500"/>
          </a:xfrm>
          <a:prstGeom prst="rect">
            <a:avLst/>
          </a:prstGeom>
          <a:solidFill>
            <a:srgbClr val="4AB4E1"/>
          </a:solidFill>
          <a:ln w="12700">
            <a:solidFill>
              <a:srgbClr val="4AB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773CF68-478E-C5D9-2DF1-CADE34AA324E}"/>
              </a:ext>
            </a:extLst>
          </p:cNvPr>
          <p:cNvSpPr txBox="1"/>
          <p:nvPr/>
        </p:nvSpPr>
        <p:spPr>
          <a:xfrm>
            <a:off x="4635500" y="2425700"/>
            <a:ext cx="294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 b="1">
                <a:solidFill>
                  <a:srgbClr val="182844"/>
                </a:solidFill>
                <a:latin typeface="Aptos" panose="020B0004020202020204" pitchFamily="34" charset="0"/>
              </a:rPr>
              <a:t>Üben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B554406-CCB4-E290-99E5-F6D73EAA21A5}"/>
              </a:ext>
            </a:extLst>
          </p:cNvPr>
          <p:cNvSpPr txBox="1"/>
          <p:nvPr/>
        </p:nvSpPr>
        <p:spPr>
          <a:xfrm>
            <a:off x="4635500" y="28321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300">
                <a:solidFill>
                  <a:srgbClr val="837B77"/>
                </a:solidFill>
                <a:latin typeface="Aptos" panose="020B0004020202020204" pitchFamily="34" charset="0"/>
              </a:rPr>
              <a:t>8, 9 oder 10 Fragen aus der Moodle-Fragensammlung.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11B00E5-4FFF-DAF4-5848-44A07E8B31A0}"/>
              </a:ext>
            </a:extLst>
          </p:cNvPr>
          <p:cNvSpPr/>
          <p:nvPr/>
        </p:nvSpPr>
        <p:spPr>
          <a:xfrm>
            <a:off x="8102600" y="2222500"/>
            <a:ext cx="3429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3753930-1F34-C17C-21C8-7C69061253F4}"/>
              </a:ext>
            </a:extLst>
          </p:cNvPr>
          <p:cNvSpPr/>
          <p:nvPr/>
        </p:nvSpPr>
        <p:spPr>
          <a:xfrm>
            <a:off x="8102600" y="2222500"/>
            <a:ext cx="88900" cy="1460500"/>
          </a:xfrm>
          <a:prstGeom prst="rect">
            <a:avLst/>
          </a:prstGeom>
          <a:solidFill>
            <a:srgbClr val="2D9F6B"/>
          </a:solidFill>
          <a:ln w="12700">
            <a:solidFill>
              <a:srgbClr val="2D9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EFA83A6-0610-91E1-6CE2-59E4C5A7C8D2}"/>
              </a:ext>
            </a:extLst>
          </p:cNvPr>
          <p:cNvSpPr txBox="1"/>
          <p:nvPr/>
        </p:nvSpPr>
        <p:spPr>
          <a:xfrm>
            <a:off x="8382000" y="2425700"/>
            <a:ext cx="294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 b="1">
                <a:solidFill>
                  <a:srgbClr val="182844"/>
                </a:solidFill>
                <a:latin typeface="Aptos" panose="020B0004020202020204" pitchFamily="34" charset="0"/>
              </a:rPr>
              <a:t>Reflektieren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F28FBAB-4B90-AD5F-D1A8-5D5F9ACF236A}"/>
              </a:ext>
            </a:extLst>
          </p:cNvPr>
          <p:cNvSpPr txBox="1"/>
          <p:nvPr/>
        </p:nvSpPr>
        <p:spPr>
          <a:xfrm>
            <a:off x="8382000" y="2832100"/>
            <a:ext cx="29464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300" dirty="0">
                <a:solidFill>
                  <a:srgbClr val="837B77"/>
                </a:solidFill>
                <a:latin typeface="Aptos" panose="020B0004020202020204" pitchFamily="34" charset="0"/>
              </a:rPr>
              <a:t>Optionale Selbsteinschätzung, ob eigene Lösung richtig oder falsch ist und/oder Einschätzung der Aufgabenschwierigkeit von 1 bis 5.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AA41FA04-C9EC-37EA-360B-11EE170030EB}"/>
              </a:ext>
            </a:extLst>
          </p:cNvPr>
          <p:cNvSpPr/>
          <p:nvPr/>
        </p:nvSpPr>
        <p:spPr>
          <a:xfrm>
            <a:off x="609600" y="4064000"/>
            <a:ext cx="3429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71A670B-3890-3E40-FEF7-798D0A2CCE8E}"/>
              </a:ext>
            </a:extLst>
          </p:cNvPr>
          <p:cNvSpPr/>
          <p:nvPr/>
        </p:nvSpPr>
        <p:spPr>
          <a:xfrm>
            <a:off x="609600" y="4064000"/>
            <a:ext cx="88900" cy="1460500"/>
          </a:xfrm>
          <a:prstGeom prst="rect">
            <a:avLst/>
          </a:prstGeom>
          <a:solidFill>
            <a:srgbClr val="E8832D"/>
          </a:solidFill>
          <a:ln w="12700">
            <a:solidFill>
              <a:srgbClr val="E883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ADFCB88-2301-58CE-F459-C3A6404E48AC}"/>
              </a:ext>
            </a:extLst>
          </p:cNvPr>
          <p:cNvSpPr txBox="1"/>
          <p:nvPr/>
        </p:nvSpPr>
        <p:spPr>
          <a:xfrm>
            <a:off x="889000" y="4267200"/>
            <a:ext cx="294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 b="1">
                <a:solidFill>
                  <a:srgbClr val="182844"/>
                </a:solidFill>
                <a:latin typeface="Aptos" panose="020B0004020202020204" pitchFamily="34" charset="0"/>
              </a:rPr>
              <a:t>Analysieren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8BFAAAC-F5FC-CC96-95B8-AD9F284191DE}"/>
              </a:ext>
            </a:extLst>
          </p:cNvPr>
          <p:cNvSpPr txBox="1"/>
          <p:nvPr/>
        </p:nvSpPr>
        <p:spPr>
          <a:xfrm>
            <a:off x="889000" y="4673600"/>
            <a:ext cx="2946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300">
                <a:solidFill>
                  <a:srgbClr val="837B77"/>
                </a:solidFill>
                <a:latin typeface="Aptos" panose="020B0004020202020204" pitchFamily="34" charset="0"/>
              </a:rPr>
              <a:t>Einzel- und Klassenmatrix, Detailansichten und Versuchsnachbesprechung.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032E1DB-6F36-02F1-9A5E-20531F7FF756}"/>
              </a:ext>
            </a:extLst>
          </p:cNvPr>
          <p:cNvSpPr/>
          <p:nvPr/>
        </p:nvSpPr>
        <p:spPr>
          <a:xfrm>
            <a:off x="4356100" y="4064000"/>
            <a:ext cx="3429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F8D052B-CE68-D077-E799-483C3DC6FBBD}"/>
              </a:ext>
            </a:extLst>
          </p:cNvPr>
          <p:cNvSpPr/>
          <p:nvPr/>
        </p:nvSpPr>
        <p:spPr>
          <a:xfrm>
            <a:off x="4356100" y="4064000"/>
            <a:ext cx="88900" cy="1460500"/>
          </a:xfrm>
          <a:prstGeom prst="rect">
            <a:avLst/>
          </a:prstGeom>
          <a:solidFill>
            <a:srgbClr val="D95546"/>
          </a:solidFill>
          <a:ln w="12700">
            <a:solidFill>
              <a:srgbClr val="D955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1DA5B13-6D5E-12B0-5CE4-72181193C3C1}"/>
              </a:ext>
            </a:extLst>
          </p:cNvPr>
          <p:cNvSpPr txBox="1"/>
          <p:nvPr/>
        </p:nvSpPr>
        <p:spPr>
          <a:xfrm>
            <a:off x="4635500" y="4267200"/>
            <a:ext cx="294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 b="1">
                <a:solidFill>
                  <a:srgbClr val="182844"/>
                </a:solidFill>
                <a:latin typeface="Aptos" panose="020B0004020202020204" pitchFamily="34" charset="0"/>
              </a:rPr>
              <a:t>Fördern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A7D3E52-1C37-8191-967A-EA3A70E39924}"/>
              </a:ext>
            </a:extLst>
          </p:cNvPr>
          <p:cNvSpPr txBox="1"/>
          <p:nvPr/>
        </p:nvSpPr>
        <p:spPr>
          <a:xfrm>
            <a:off x="4635500" y="4673600"/>
            <a:ext cx="2946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300" dirty="0">
                <a:solidFill>
                  <a:srgbClr val="837B77"/>
                </a:solidFill>
                <a:latin typeface="Aptos" panose="020B0004020202020204" pitchFamily="34" charset="0"/>
              </a:rPr>
              <a:t>Feedbackdialoge und regelbasierte oder individuelle zugewiesene Zusatzangebote durch die Lehrkraft.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32E1DD2-0E66-0271-5773-D9AD1F336F88}"/>
              </a:ext>
            </a:extLst>
          </p:cNvPr>
          <p:cNvSpPr/>
          <p:nvPr/>
        </p:nvSpPr>
        <p:spPr>
          <a:xfrm>
            <a:off x="8102600" y="4064000"/>
            <a:ext cx="3429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836E96-A406-14C7-1088-E5A5AA3DBD76}"/>
              </a:ext>
            </a:extLst>
          </p:cNvPr>
          <p:cNvSpPr/>
          <p:nvPr/>
        </p:nvSpPr>
        <p:spPr>
          <a:xfrm>
            <a:off x="8102600" y="4064000"/>
            <a:ext cx="88900" cy="14605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70B9C8A-CC2E-9515-2979-991FFBBC27E8}"/>
              </a:ext>
            </a:extLst>
          </p:cNvPr>
          <p:cNvSpPr txBox="1"/>
          <p:nvPr/>
        </p:nvSpPr>
        <p:spPr>
          <a:xfrm>
            <a:off x="8382000" y="4267200"/>
            <a:ext cx="294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700" b="1">
                <a:solidFill>
                  <a:srgbClr val="182844"/>
                </a:solidFill>
                <a:latin typeface="Aptos" panose="020B0004020202020204" pitchFamily="34" charset="0"/>
              </a:rPr>
              <a:t>Wiederholen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2CC7E69-9404-BD82-14C9-8D18377685E6}"/>
              </a:ext>
            </a:extLst>
          </p:cNvPr>
          <p:cNvSpPr txBox="1"/>
          <p:nvPr/>
        </p:nvSpPr>
        <p:spPr>
          <a:xfrm>
            <a:off x="8382000" y="4673600"/>
            <a:ext cx="2946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300" dirty="0">
                <a:solidFill>
                  <a:srgbClr val="837B77"/>
                </a:solidFill>
                <a:latin typeface="Aptos" panose="020B0004020202020204" pitchFamily="34" charset="0"/>
              </a:rPr>
              <a:t>Bereitschaftsanzeige und Zurücksetzen einzelner Test-Versuche bei technischen Schwierigkeiten.</a:t>
            </a:r>
          </a:p>
        </p:txBody>
      </p:sp>
    </p:spTree>
    <p:extLst>
      <p:ext uri="{BB962C8B-B14F-4D97-AF65-F5344CB8AC3E}">
        <p14:creationId xmlns:p14="http://schemas.microsoft.com/office/powerpoint/2010/main" val="49873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92CD3D8-3660-3C6F-8992-C79C45F28A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A947608-B2A6-158E-CCA0-116A4FD8170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5BCF810-BF28-C06D-9A95-828148FE3EB9}"/>
              </a:ext>
            </a:extLst>
          </p:cNvPr>
          <p:cNvSpPr txBox="1"/>
          <p:nvPr/>
        </p:nvSpPr>
        <p:spPr>
          <a:xfrm>
            <a:off x="609600" y="342900"/>
            <a:ext cx="508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100" b="1">
                <a:solidFill>
                  <a:srgbClr val="166DC9"/>
                </a:solidFill>
                <a:latin typeface="Aptos" panose="020B0004020202020204" pitchFamily="34" charset="0"/>
              </a:rPr>
              <a:t>02 · PROZESS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DA9A4E-2B03-EDDA-9748-695ACD6EBC18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800" b="1">
                <a:solidFill>
                  <a:srgbClr val="182844"/>
                </a:solidFill>
                <a:latin typeface="Aptos" panose="020B0004020202020204" pitchFamily="34" charset="0"/>
              </a:rPr>
              <a:t>Der komplette Ablauf auf einen Blick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01A283C-A8FF-2FA4-C570-4D3513AD3E26}"/>
              </a:ext>
            </a:extLst>
          </p:cNvPr>
          <p:cNvSpPr txBox="1"/>
          <p:nvPr/>
        </p:nvSpPr>
        <p:spPr>
          <a:xfrm>
            <a:off x="10414000" y="64770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3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743A780-9DD0-F704-5FEA-899AF2EF3042}"/>
              </a:ext>
            </a:extLst>
          </p:cNvPr>
          <p:cNvSpPr/>
          <p:nvPr/>
        </p:nvSpPr>
        <p:spPr>
          <a:xfrm>
            <a:off x="482600" y="2603500"/>
            <a:ext cx="1422400" cy="990600"/>
          </a:xfrm>
          <a:prstGeom prst="round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BC26A8C-8661-9A5E-A647-1B1D88F8A84C}"/>
              </a:ext>
            </a:extLst>
          </p:cNvPr>
          <p:cNvSpPr txBox="1"/>
          <p:nvPr/>
        </p:nvSpPr>
        <p:spPr>
          <a:xfrm>
            <a:off x="609600" y="2908300"/>
            <a:ext cx="1168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400" b="1">
                <a:solidFill>
                  <a:srgbClr val="FFFFFF"/>
                </a:solidFill>
                <a:latin typeface="Aptos" panose="020B0004020202020204" pitchFamily="34" charset="0"/>
              </a:rPr>
              <a:t>1  Anlegen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102D888-22D8-9277-8B0A-DBE0F72D76CA}"/>
              </a:ext>
            </a:extLst>
          </p:cNvPr>
          <p:cNvSpPr txBox="1"/>
          <p:nvPr/>
        </p:nvSpPr>
        <p:spPr>
          <a:xfrm>
            <a:off x="1917700" y="2921000"/>
            <a:ext cx="25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 b="1">
                <a:solidFill>
                  <a:srgbClr val="837B77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C065C22-EDAA-650A-603B-385F0B4193F5}"/>
              </a:ext>
            </a:extLst>
          </p:cNvPr>
          <p:cNvSpPr/>
          <p:nvPr/>
        </p:nvSpPr>
        <p:spPr>
          <a:xfrm>
            <a:off x="2146300" y="2603500"/>
            <a:ext cx="1422400" cy="990600"/>
          </a:xfrm>
          <a:prstGeom prst="round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886E7C-AC54-1ACF-32DB-3A36601B48B9}"/>
              </a:ext>
            </a:extLst>
          </p:cNvPr>
          <p:cNvSpPr txBox="1"/>
          <p:nvPr/>
        </p:nvSpPr>
        <p:spPr>
          <a:xfrm>
            <a:off x="2273300" y="2908300"/>
            <a:ext cx="116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400" b="1" dirty="0">
                <a:solidFill>
                  <a:srgbClr val="FFFFFF"/>
                </a:solidFill>
                <a:latin typeface="Aptos" panose="020B0004020202020204" pitchFamily="34" charset="0"/>
              </a:rPr>
              <a:t>2  Fragen auswählen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5495549-7C02-3ECE-D790-485258F7CF69}"/>
              </a:ext>
            </a:extLst>
          </p:cNvPr>
          <p:cNvSpPr txBox="1"/>
          <p:nvPr/>
        </p:nvSpPr>
        <p:spPr>
          <a:xfrm>
            <a:off x="3581400" y="2921000"/>
            <a:ext cx="25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 b="1">
                <a:solidFill>
                  <a:srgbClr val="837B77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4498A66-2DEF-AD33-F492-9A23324A6A8C}"/>
              </a:ext>
            </a:extLst>
          </p:cNvPr>
          <p:cNvSpPr/>
          <p:nvPr/>
        </p:nvSpPr>
        <p:spPr>
          <a:xfrm>
            <a:off x="3810000" y="2603500"/>
            <a:ext cx="1422400" cy="990600"/>
          </a:xfrm>
          <a:prstGeom prst="roundRect">
            <a:avLst/>
          </a:prstGeom>
          <a:solidFill>
            <a:srgbClr val="4AB4E1"/>
          </a:solidFill>
          <a:ln w="12700">
            <a:solidFill>
              <a:srgbClr val="4AB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B2D8CDE-BE88-3F07-8F4C-1A9225FF8C2F}"/>
              </a:ext>
            </a:extLst>
          </p:cNvPr>
          <p:cNvSpPr txBox="1"/>
          <p:nvPr/>
        </p:nvSpPr>
        <p:spPr>
          <a:xfrm>
            <a:off x="3937000" y="2908300"/>
            <a:ext cx="116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400" b="1" dirty="0">
                <a:solidFill>
                  <a:srgbClr val="FFFFFF"/>
                </a:solidFill>
                <a:latin typeface="Aptos" panose="020B0004020202020204" pitchFamily="34" charset="0"/>
              </a:rPr>
              <a:t>3  Bereit für Kopfübung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7D57F4-0839-9F36-C3BE-DBA457BBACEF}"/>
              </a:ext>
            </a:extLst>
          </p:cNvPr>
          <p:cNvSpPr txBox="1"/>
          <p:nvPr/>
        </p:nvSpPr>
        <p:spPr>
          <a:xfrm>
            <a:off x="5245100" y="2921000"/>
            <a:ext cx="25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 b="1">
                <a:solidFill>
                  <a:srgbClr val="837B77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23F42AD1-352D-967E-C562-26324F69854C}"/>
              </a:ext>
            </a:extLst>
          </p:cNvPr>
          <p:cNvSpPr/>
          <p:nvPr/>
        </p:nvSpPr>
        <p:spPr>
          <a:xfrm>
            <a:off x="5473700" y="2603500"/>
            <a:ext cx="1422400" cy="990600"/>
          </a:xfrm>
          <a:prstGeom prst="roundRect">
            <a:avLst/>
          </a:prstGeom>
          <a:solidFill>
            <a:srgbClr val="4AB4E1"/>
          </a:solidFill>
          <a:ln w="12700">
            <a:solidFill>
              <a:srgbClr val="4AB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E8DDD96-95C8-F6F2-DD30-F39E9009E9CE}"/>
              </a:ext>
            </a:extLst>
          </p:cNvPr>
          <p:cNvSpPr txBox="1"/>
          <p:nvPr/>
        </p:nvSpPr>
        <p:spPr>
          <a:xfrm>
            <a:off x="5600700" y="2908300"/>
            <a:ext cx="1168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400" b="1">
                <a:solidFill>
                  <a:srgbClr val="FFFFFF"/>
                </a:solidFill>
                <a:latin typeface="Aptos" panose="020B0004020202020204" pitchFamily="34" charset="0"/>
              </a:rPr>
              <a:t>4  Start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22E2852-EA69-82E5-435A-8EBA60F13B15}"/>
              </a:ext>
            </a:extLst>
          </p:cNvPr>
          <p:cNvSpPr txBox="1"/>
          <p:nvPr/>
        </p:nvSpPr>
        <p:spPr>
          <a:xfrm>
            <a:off x="6908800" y="2921000"/>
            <a:ext cx="25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 b="1">
                <a:solidFill>
                  <a:srgbClr val="837B77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CCD1A7B-411E-0873-D95B-F3EC68637655}"/>
              </a:ext>
            </a:extLst>
          </p:cNvPr>
          <p:cNvSpPr/>
          <p:nvPr/>
        </p:nvSpPr>
        <p:spPr>
          <a:xfrm>
            <a:off x="7137400" y="2603500"/>
            <a:ext cx="1422400" cy="990600"/>
          </a:xfrm>
          <a:prstGeom prst="roundRect">
            <a:avLst/>
          </a:prstGeom>
          <a:solidFill>
            <a:srgbClr val="4AB4E1"/>
          </a:solidFill>
          <a:ln w="12700">
            <a:solidFill>
              <a:srgbClr val="4AB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48E36DB-7C46-A862-303D-B7987E0A74B0}"/>
              </a:ext>
            </a:extLst>
          </p:cNvPr>
          <p:cNvSpPr txBox="1"/>
          <p:nvPr/>
        </p:nvSpPr>
        <p:spPr>
          <a:xfrm>
            <a:off x="7264400" y="2908300"/>
            <a:ext cx="1168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400" b="1" dirty="0">
                <a:solidFill>
                  <a:srgbClr val="FFFFFF"/>
                </a:solidFill>
                <a:latin typeface="Aptos" panose="020B0004020202020204" pitchFamily="34" charset="0"/>
              </a:rPr>
              <a:t>5  Kopfübung Bearbeiten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A944DD2-64E7-A7EC-7AA7-DC78AF42D8FF}"/>
              </a:ext>
            </a:extLst>
          </p:cNvPr>
          <p:cNvSpPr txBox="1"/>
          <p:nvPr/>
        </p:nvSpPr>
        <p:spPr>
          <a:xfrm>
            <a:off x="8572500" y="2921000"/>
            <a:ext cx="25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 b="1">
                <a:solidFill>
                  <a:srgbClr val="837B77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0DC6473-BDFD-27C3-E531-97613013DAED}"/>
              </a:ext>
            </a:extLst>
          </p:cNvPr>
          <p:cNvSpPr/>
          <p:nvPr/>
        </p:nvSpPr>
        <p:spPr>
          <a:xfrm>
            <a:off x="8801100" y="2603500"/>
            <a:ext cx="1422400" cy="990600"/>
          </a:xfrm>
          <a:prstGeom prst="roundRect">
            <a:avLst/>
          </a:prstGeom>
          <a:solidFill>
            <a:srgbClr val="2D9F6B"/>
          </a:solidFill>
          <a:ln w="12700">
            <a:solidFill>
              <a:srgbClr val="2D9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0184D6F-2287-BC14-D0C2-38225A11724C}"/>
              </a:ext>
            </a:extLst>
          </p:cNvPr>
          <p:cNvSpPr txBox="1"/>
          <p:nvPr/>
        </p:nvSpPr>
        <p:spPr>
          <a:xfrm>
            <a:off x="8928100" y="275834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400" b="1" dirty="0">
                <a:solidFill>
                  <a:srgbClr val="FFFFFF"/>
                </a:solidFill>
                <a:latin typeface="Aptos" panose="020B0004020202020204" pitchFamily="34" charset="0"/>
              </a:rPr>
              <a:t>6  Reflexion der eigenen Leistung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EB6AC88-7772-3723-A55C-61E5E29C6E87}"/>
              </a:ext>
            </a:extLst>
          </p:cNvPr>
          <p:cNvSpPr txBox="1"/>
          <p:nvPr/>
        </p:nvSpPr>
        <p:spPr>
          <a:xfrm>
            <a:off x="10236200" y="2921000"/>
            <a:ext cx="25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000" b="1">
                <a:solidFill>
                  <a:srgbClr val="837B77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8EC261DF-4368-5D6B-7825-67794598C189}"/>
              </a:ext>
            </a:extLst>
          </p:cNvPr>
          <p:cNvSpPr/>
          <p:nvPr/>
        </p:nvSpPr>
        <p:spPr>
          <a:xfrm>
            <a:off x="10464800" y="2603500"/>
            <a:ext cx="1422400" cy="990600"/>
          </a:xfrm>
          <a:prstGeom prst="roundRect">
            <a:avLst/>
          </a:prstGeom>
          <a:solidFill>
            <a:srgbClr val="2D9F6B"/>
          </a:solidFill>
          <a:ln w="12700">
            <a:solidFill>
              <a:srgbClr val="2D9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13A0474-7DC9-593D-C815-C8BFAE6038A3}"/>
              </a:ext>
            </a:extLst>
          </p:cNvPr>
          <p:cNvSpPr txBox="1"/>
          <p:nvPr/>
        </p:nvSpPr>
        <p:spPr>
          <a:xfrm>
            <a:off x="10591800" y="2908300"/>
            <a:ext cx="1168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400" b="1">
                <a:solidFill>
                  <a:srgbClr val="FFFFFF"/>
                </a:solidFill>
                <a:latin typeface="Aptos" panose="020B0004020202020204" pitchFamily="34" charset="0"/>
              </a:rPr>
              <a:t>7  Analyse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F5470C8-9656-CEB7-C782-180926BDFB59}"/>
              </a:ext>
            </a:extLst>
          </p:cNvPr>
          <p:cNvSpPr txBox="1"/>
          <p:nvPr/>
        </p:nvSpPr>
        <p:spPr>
          <a:xfrm>
            <a:off x="609600" y="4191000"/>
            <a:ext cx="304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66DC9"/>
                </a:solidFill>
                <a:latin typeface="Aptos" panose="020B0004020202020204" pitchFamily="34" charset="0"/>
              </a:rPr>
              <a:t>Lehrkraft vorbereitet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CBC36E4-FCEC-5C95-971A-9BC5BA5031A1}"/>
              </a:ext>
            </a:extLst>
          </p:cNvPr>
          <p:cNvSpPr txBox="1"/>
          <p:nvPr/>
        </p:nvSpPr>
        <p:spPr>
          <a:xfrm>
            <a:off x="4508500" y="41910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4AB4E1"/>
                </a:solidFill>
                <a:latin typeface="Aptos" panose="020B0004020202020204" pitchFamily="34" charset="0"/>
              </a:rPr>
              <a:t>Gemeinsame Durchführung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EA6507E-83EB-15BF-C772-DC13BEB6B16E}"/>
              </a:ext>
            </a:extLst>
          </p:cNvPr>
          <p:cNvSpPr txBox="1"/>
          <p:nvPr/>
        </p:nvSpPr>
        <p:spPr>
          <a:xfrm>
            <a:off x="8940800" y="41910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2D9F6B"/>
                </a:solidFill>
                <a:latin typeface="Aptos" panose="020B0004020202020204" pitchFamily="34" charset="0"/>
              </a:rPr>
              <a:t>Auswertung &amp; Förderung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8F53C21-BF08-D3FE-F4E6-9397B5075F28}"/>
              </a:ext>
            </a:extLst>
          </p:cNvPr>
          <p:cNvSpPr txBox="1"/>
          <p:nvPr/>
        </p:nvSpPr>
        <p:spPr>
          <a:xfrm>
            <a:off x="1905000" y="5143500"/>
            <a:ext cx="850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de-DE" sz="1700" b="1" dirty="0">
                <a:solidFill>
                  <a:srgbClr val="182844"/>
                </a:solidFill>
                <a:latin typeface="Aptos" panose="020B0004020202020204" pitchFamily="34" charset="0"/>
              </a:rPr>
              <a:t>Die Ergebnisse werden erst nach Ende der Aktivität freigegeben. </a:t>
            </a:r>
          </a:p>
        </p:txBody>
      </p:sp>
    </p:spTree>
    <p:extLst>
      <p:ext uri="{BB962C8B-B14F-4D97-AF65-F5344CB8AC3E}">
        <p14:creationId xmlns:p14="http://schemas.microsoft.com/office/powerpoint/2010/main" val="84221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775C395-A83C-2D41-775D-790AD0732D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0A9700D-619F-48FF-E5B2-F0F6F75D60F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6C6BFA6-2CCB-D2C9-DEE7-6B8DB122D130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02 · LEHRKRAFT · EINRICHTUNG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60FCA6F-74BD-EA86-0E90-D7D5286FBE6C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Plugin-Einstellungen im Detail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B9C0A32-B00C-B5D2-F056-9A6B166A92CA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4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02B5211-B659-3A7F-77E0-C69A8FABA483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771DD2A-88E5-2A6A-390B-91B2EC10A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886" y="1417627"/>
            <a:ext cx="4084497" cy="459654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57D87A73-7A3E-AF70-7D63-6C24335AF645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Der </a:t>
            </a:r>
            <a:r>
              <a:rPr lang="de-DE" sz="1500" b="1" dirty="0" err="1">
                <a:solidFill>
                  <a:srgbClr val="182844"/>
                </a:solidFill>
                <a:latin typeface="Aptos" panose="020B0004020202020204" pitchFamily="34" charset="0"/>
              </a:rPr>
              <a:t>Moodle</a:t>
            </a:r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-Aktivitätsdialog zum Erstellen einer Kopfübung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2FCBA19-4E75-2C16-67E8-1589A58D5E62}"/>
              </a:ext>
            </a:extLst>
          </p:cNvPr>
          <p:cNvSpPr txBox="1"/>
          <p:nvPr/>
        </p:nvSpPr>
        <p:spPr>
          <a:xfrm>
            <a:off x="9169400" y="25781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Name und Beschreibung festlegen und Zeit, Fragenzahl und Reflexion konfigurieren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B09A779-BB41-CFE3-573B-1B63A8E653B0}"/>
              </a:ext>
            </a:extLst>
          </p:cNvPr>
          <p:cNvSpPr txBox="1"/>
          <p:nvPr/>
        </p:nvSpPr>
        <p:spPr>
          <a:xfrm>
            <a:off x="9169400" y="34925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8, 9 oder 10 Fragen sind möglich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28095DA-D358-6FFB-2E12-87B4D92AE1F6}"/>
              </a:ext>
            </a:extLst>
          </p:cNvPr>
          <p:cNvSpPr txBox="1"/>
          <p:nvPr/>
        </p:nvSpPr>
        <p:spPr>
          <a:xfrm>
            <a:off x="9169400" y="44069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Bereitschaft und Feedback können optional gesteuert werden</a:t>
            </a:r>
          </a:p>
        </p:txBody>
      </p:sp>
    </p:spTree>
    <p:extLst>
      <p:ext uri="{BB962C8B-B14F-4D97-AF65-F5344CB8AC3E}">
        <p14:creationId xmlns:p14="http://schemas.microsoft.com/office/powerpoint/2010/main" val="329103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966FFA8-7E1C-C621-CCEC-32AF987B1F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BB68EC4-C1F8-9336-D9CE-2C4E879C421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1CD07D-62CF-DF0E-FB9B-B4C73679AD4C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02 · LEHRKRAFT · FRAGEN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8BED766-EDAE-2526-5688-84881B383745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2. Fragen den Positionen zuordnen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98D6CEE-7C13-01F8-18E7-F51DDFFBA6A5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6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FEAA6C6-EC00-8EC9-19FB-C53D816B06D1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9B7B183-AD89-D322-09EB-C0FC8DA88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374" y="1445889"/>
            <a:ext cx="5475921" cy="451919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24E5ECF-53F2-2FBE-5038-35EFC3D4CC65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Jede Aufgabe erhält eine Frage aus der Fragensammlung.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54F0ABA-0E35-D2F3-D1E2-A3AF224B50CA}"/>
              </a:ext>
            </a:extLst>
          </p:cNvPr>
          <p:cNvSpPr txBox="1"/>
          <p:nvPr/>
        </p:nvSpPr>
        <p:spPr>
          <a:xfrm>
            <a:off x="9169400" y="25781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Möglich ist sowohl Schnellauswahl über Fragentitel …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09CDE45-C8B6-1782-023C-C9055A2608E2}"/>
              </a:ext>
            </a:extLst>
          </p:cNvPr>
          <p:cNvSpPr txBox="1"/>
          <p:nvPr/>
        </p:nvSpPr>
        <p:spPr>
          <a:xfrm>
            <a:off x="9169400" y="34925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… als auch manuelle Detailzuordnung</a:t>
            </a:r>
          </a:p>
        </p:txBody>
      </p:sp>
    </p:spTree>
    <p:extLst>
      <p:ext uri="{BB962C8B-B14F-4D97-AF65-F5344CB8AC3E}">
        <p14:creationId xmlns:p14="http://schemas.microsoft.com/office/powerpoint/2010/main" val="179997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D1F436A-8B4E-6FE7-6386-4E4818768D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5D8889B-9C02-C5EA-E63C-325607836C32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C433DC9-9478-8E7C-EACA-841394541159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 dirty="0">
                <a:solidFill>
                  <a:srgbClr val="166DC9"/>
                </a:solidFill>
                <a:latin typeface="Aptos" panose="020B0004020202020204" pitchFamily="34" charset="0"/>
              </a:rPr>
              <a:t>03 · ANSICHT LEHRKRAFT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C653E47-F748-DD85-F4DA-E5FCA378BF20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3. Lehrkraft wartet auf Bereitschaft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EB8EB45-4E6D-8F47-4221-BEA93CB9EAE9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7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B8E72AA6-BEBE-DDE8-B967-4161FACA8788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F94A9D1-2EBF-42BE-17C9-833DF51A1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15" y="1512062"/>
            <a:ext cx="6627866" cy="441984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12E17E1-021A-A944-54B6-0FB253BE33A3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82844"/>
                </a:solidFill>
                <a:latin typeface="Aptos" panose="020B0004020202020204" pitchFamily="34" charset="0"/>
              </a:rPr>
              <a:t>Der Start bleibt vollständig unter Kontrolle der Lehrperson.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C5EFF65-F818-E24F-BCDF-BB70421C62F6}"/>
              </a:ext>
            </a:extLst>
          </p:cNvPr>
          <p:cNvSpPr txBox="1"/>
          <p:nvPr/>
        </p:nvSpPr>
        <p:spPr>
          <a:xfrm>
            <a:off x="9169400" y="25781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Anzahl der </a:t>
            </a:r>
            <a:r>
              <a:rPr lang="de-DE" sz="1250" dirty="0" err="1">
                <a:solidFill>
                  <a:srgbClr val="38312E"/>
                </a:solidFill>
                <a:latin typeface="Aptos" panose="020B0004020202020204" pitchFamily="34" charset="0"/>
              </a:rPr>
              <a:t>Schüler:innen</a:t>
            </a:r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, die bereit sind, sichtbar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10CAAA2-0FE5-A6B3-F842-65F097481318}"/>
              </a:ext>
            </a:extLst>
          </p:cNvPr>
          <p:cNvSpPr txBox="1"/>
          <p:nvPr/>
        </p:nvSpPr>
        <p:spPr>
          <a:xfrm>
            <a:off x="9169400" y="34925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Fragenzuordnung wird geprüft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FF0A68C-0FDF-E689-21AF-10C24B28DF12}"/>
              </a:ext>
            </a:extLst>
          </p:cNvPr>
          <p:cNvSpPr txBox="1"/>
          <p:nvPr/>
        </p:nvSpPr>
        <p:spPr>
          <a:xfrm>
            <a:off x="9169400" y="44069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Startknopf aktiviert den gemeinsamen Lauf</a:t>
            </a:r>
          </a:p>
        </p:txBody>
      </p:sp>
    </p:spTree>
    <p:extLst>
      <p:ext uri="{BB962C8B-B14F-4D97-AF65-F5344CB8AC3E}">
        <p14:creationId xmlns:p14="http://schemas.microsoft.com/office/powerpoint/2010/main" val="273003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7EA8279-DECE-7528-3B5D-436B22942AA7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7C96898-41E0-232B-9F0E-D63E26C0612E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 dirty="0">
                <a:solidFill>
                  <a:srgbClr val="166DC9"/>
                </a:solidFill>
                <a:latin typeface="Aptos" panose="020B0004020202020204" pitchFamily="34" charset="0"/>
              </a:rPr>
              <a:t>03 · ANSICHT LEHRKRAFT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22D7-A672-BEAD-A106-3CC933923C1C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Bereitschaftszähler im Testlauf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24774F8-537C-2339-DC8B-83ED32883048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8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2BCACD0-8438-4668-79E5-3FE2FA338AA8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F084347-FD12-9DB7-3538-886F55013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13" y="1558498"/>
            <a:ext cx="6986723" cy="436975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E2E9CB4-2CD8-8F47-0541-DCEC09CD36F4}"/>
              </a:ext>
            </a:extLst>
          </p:cNvPr>
          <p:cNvSpPr txBox="1"/>
          <p:nvPr/>
        </p:nvSpPr>
        <p:spPr>
          <a:xfrm>
            <a:off x="9169400" y="1473200"/>
            <a:ext cx="2565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Wenn alle Kategorien mit Fragen zugewiesen sind ist das Starten der Kopfübung möglich.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AEE37D4-2612-050F-C28C-6EF290BC4C04}"/>
              </a:ext>
            </a:extLst>
          </p:cNvPr>
          <p:cNvSpPr txBox="1"/>
          <p:nvPr/>
        </p:nvSpPr>
        <p:spPr>
          <a:xfrm>
            <a:off x="9169400" y="25781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</a:t>
            </a:r>
            <a:r>
              <a:rPr lang="de-DE" sz="1250" dirty="0" err="1">
                <a:solidFill>
                  <a:srgbClr val="38312E"/>
                </a:solidFill>
                <a:latin typeface="Aptos" panose="020B0004020202020204" pitchFamily="34" charset="0"/>
              </a:rPr>
              <a:t>Schüler:innen</a:t>
            </a:r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, welche bereit sind, werden automatisch durch Aktualisierung zur Kopfübung geführt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F3263E1-11B7-B3F8-48DA-ECD1BFED6C6D}"/>
              </a:ext>
            </a:extLst>
          </p:cNvPr>
          <p:cNvSpPr txBox="1"/>
          <p:nvPr/>
        </p:nvSpPr>
        <p:spPr>
          <a:xfrm>
            <a:off x="9169400" y="3492500"/>
            <a:ext cx="25654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Start auch vor vollständiger Bereitschaft möglich (wenn z.B. Schülerinnen an diesem Tag abwesend sind)</a:t>
            </a:r>
          </a:p>
        </p:txBody>
      </p:sp>
    </p:spTree>
    <p:extLst>
      <p:ext uri="{BB962C8B-B14F-4D97-AF65-F5344CB8AC3E}">
        <p14:creationId xmlns:p14="http://schemas.microsoft.com/office/powerpoint/2010/main" val="2018845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C1CBAD1-E931-BFDC-5945-3761AFBE84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75AC5BB-2D0C-877B-E715-F8BE001ED52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F3D1BA1-D9A9-A301-37D7-6346370222D8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 dirty="0">
                <a:solidFill>
                  <a:srgbClr val="166DC9"/>
                </a:solidFill>
                <a:latin typeface="Aptos" panose="020B0004020202020204" pitchFamily="34" charset="0"/>
              </a:rPr>
              <a:t>03 · ANSICHT SCHÜLER:INNEN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4EED138-9E5A-E3FF-5330-F7EFF124A699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Schüler:innenansicht: bereit melden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64C3533-4051-A75A-4539-B20CB1AAE312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9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512CDF5-C2DB-1A46-2413-DC39333E53BF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DF1E021-03C2-B8BD-1DAC-4695EE7F0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478" y="1505237"/>
            <a:ext cx="6634003" cy="444562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85E40FB-EBFE-6D65-855D-A2FB4DE27039}"/>
              </a:ext>
            </a:extLst>
          </p:cNvPr>
          <p:cNvSpPr txBox="1"/>
          <p:nvPr/>
        </p:nvSpPr>
        <p:spPr>
          <a:xfrm>
            <a:off x="9169400" y="1473200"/>
            <a:ext cx="256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82844"/>
                </a:solidFill>
                <a:latin typeface="Aptos" panose="020B0004020202020204" pitchFamily="34" charset="0"/>
              </a:rPr>
              <a:t>Vor dem Start gibt es einen eindeutigen Wartezustand.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E58EB0A-EDC9-5370-5E21-8588B64EC25D}"/>
              </a:ext>
            </a:extLst>
          </p:cNvPr>
          <p:cNvSpPr txBox="1"/>
          <p:nvPr/>
        </p:nvSpPr>
        <p:spPr>
          <a:xfrm>
            <a:off x="9169400" y="25781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„Ich bin bereit“ meldet Startklarheit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B8CCFB-D0FD-C56A-DC0C-E7FCFC62B6AD}"/>
              </a:ext>
            </a:extLst>
          </p:cNvPr>
          <p:cNvSpPr txBox="1"/>
          <p:nvPr/>
        </p:nvSpPr>
        <p:spPr>
          <a:xfrm>
            <a:off x="9169400" y="34925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Kein individueller Frühstart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2F3B3AC-CB54-F512-DE51-33ADBF4E3B3E}"/>
              </a:ext>
            </a:extLst>
          </p:cNvPr>
          <p:cNvSpPr txBox="1"/>
          <p:nvPr/>
        </p:nvSpPr>
        <p:spPr>
          <a:xfrm>
            <a:off x="9169400" y="44069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Automatische Weiterleitung beim Start durch die Lehrkraft</a:t>
            </a:r>
          </a:p>
        </p:txBody>
      </p:sp>
    </p:spTree>
    <p:extLst>
      <p:ext uri="{BB962C8B-B14F-4D97-AF65-F5344CB8AC3E}">
        <p14:creationId xmlns:p14="http://schemas.microsoft.com/office/powerpoint/2010/main" val="124209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BF65FDE-0ECF-B00B-E52A-D7642BA1FF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AD4F730-D0F5-E3F6-B10D-A439D1DEDC68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D925691-8EA4-A684-1DA7-37F18DE16FCA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 dirty="0">
                <a:solidFill>
                  <a:srgbClr val="166DC9"/>
                </a:solidFill>
                <a:latin typeface="Aptos" panose="020B0004020202020204" pitchFamily="34" charset="0"/>
              </a:rPr>
              <a:t>03 · ANSICHT SCHÜLER:INNEN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BB853A-C558-623F-694C-EB309572FB0F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 dirty="0" err="1">
                <a:solidFill>
                  <a:srgbClr val="182844"/>
                </a:solidFill>
                <a:latin typeface="Aptos" panose="020B0004020202020204" pitchFamily="34" charset="0"/>
              </a:rPr>
              <a:t>Schüler:innenansicht</a:t>
            </a:r>
            <a:r>
              <a:rPr lang="de-DE" sz="2700" b="1" dirty="0">
                <a:solidFill>
                  <a:srgbClr val="182844"/>
                </a:solidFill>
                <a:latin typeface="Aptos" panose="020B0004020202020204" pitchFamily="34" charset="0"/>
              </a:rPr>
              <a:t>: bereit und warten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4F540A-7662-6C30-8018-A9100C11AFA6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10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318AF10C-BC79-3B94-98F7-DD8573B16761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03E223B-0269-78E3-70F3-5AC8C3C1E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899" y="1558499"/>
            <a:ext cx="6913501" cy="427156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DCFB2B0-D0F9-CA22-03F6-051B5427BEA0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82844"/>
                </a:solidFill>
                <a:latin typeface="Aptos" panose="020B0004020202020204" pitchFamily="34" charset="0"/>
              </a:rPr>
              <a:t>Die Rückmeldung bestätigt die erfolgreiche Bereitschaftsmeldung.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E596E1F-4564-D4F1-B94D-E32DB99C1517}"/>
              </a:ext>
            </a:extLst>
          </p:cNvPr>
          <p:cNvSpPr txBox="1"/>
          <p:nvPr/>
        </p:nvSpPr>
        <p:spPr>
          <a:xfrm>
            <a:off x="9169400" y="25781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Status „Du bist bereit“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D5E02CD-0CB3-6CC2-ED88-DF9888A2BA5D}"/>
              </a:ext>
            </a:extLst>
          </p:cNvPr>
          <p:cNvSpPr txBox="1"/>
          <p:nvPr/>
        </p:nvSpPr>
        <p:spPr>
          <a:xfrm>
            <a:off x="9169400" y="34925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Optionales Zurückziehen möglich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3FE7D4D-4733-52F8-0291-8D556A26ACE2}"/>
              </a:ext>
            </a:extLst>
          </p:cNvPr>
          <p:cNvSpPr txBox="1"/>
          <p:nvPr/>
        </p:nvSpPr>
        <p:spPr>
          <a:xfrm>
            <a:off x="9169400" y="44069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Nächster Schritt wird erklärt</a:t>
            </a:r>
          </a:p>
        </p:txBody>
      </p:sp>
    </p:spTree>
    <p:extLst>
      <p:ext uri="{BB962C8B-B14F-4D97-AF65-F5344CB8AC3E}">
        <p14:creationId xmlns:p14="http://schemas.microsoft.com/office/powerpoint/2010/main" val="3438662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BB61BAE-1EBD-48D3-4AA1-A68AD90FAC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1A2ED1E-ED1A-007D-6E0B-4873EFEEC13A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693B554-1B31-8FA4-EDCA-3F649C92FFB7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03 · GEMEINSAMER START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59CDC22-57D2-4880-A534-69E13AC917B6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Versuchsverwaltung für Lehrkräfte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1BA3A40-ABCE-12F9-7724-381F56DD4574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12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B57F4E15-4865-CDE5-5D90-291CA2ADEEB4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B5B8167-B8C0-00B0-1C12-51FBA3785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609" y="1535050"/>
            <a:ext cx="5915984" cy="425211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68C8D4A-98F8-9E78-8143-4B0B03BD7142}"/>
              </a:ext>
            </a:extLst>
          </p:cNvPr>
          <p:cNvSpPr txBox="1"/>
          <p:nvPr/>
        </p:nvSpPr>
        <p:spPr>
          <a:xfrm>
            <a:off x="9169400" y="1473200"/>
            <a:ext cx="256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Einzelne Testversuche lassen sich gezielt verwalten.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4D71D35-6C3D-6FDD-9757-D4679A363119}"/>
              </a:ext>
            </a:extLst>
          </p:cNvPr>
          <p:cNvSpPr txBox="1"/>
          <p:nvPr/>
        </p:nvSpPr>
        <p:spPr>
          <a:xfrm>
            <a:off x="9169400" y="25781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Letzten Status je Person sehen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AE0E677-3429-CF25-CBD3-2633ECC5C6CD}"/>
              </a:ext>
            </a:extLst>
          </p:cNvPr>
          <p:cNvSpPr txBox="1"/>
          <p:nvPr/>
        </p:nvSpPr>
        <p:spPr>
          <a:xfrm>
            <a:off x="9169400" y="34925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Abgegebenen Versuch öffnen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07FA6AB-9648-22C3-7539-5EF0345CA4BF}"/>
              </a:ext>
            </a:extLst>
          </p:cNvPr>
          <p:cNvSpPr txBox="1"/>
          <p:nvPr/>
        </p:nvSpPr>
        <p:spPr>
          <a:xfrm>
            <a:off x="9169400" y="44069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Versuch bei Bedarf zurücksetzen</a:t>
            </a:r>
          </a:p>
        </p:txBody>
      </p:sp>
    </p:spTree>
    <p:extLst>
      <p:ext uri="{BB962C8B-B14F-4D97-AF65-F5344CB8AC3E}">
        <p14:creationId xmlns:p14="http://schemas.microsoft.com/office/powerpoint/2010/main" val="2962218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6590157-F6CF-7B98-1829-3693FD2E35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CD360D2-BBB4-14F7-5D35-A9EDC2B353E9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BFB6FC0-CF02-9800-07B0-367133C3F2D8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04 · DURCHFÜHRUNG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19A3345-9C85-BD95-1C19-7A371F1E10D0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4. Die Kopfübung läuft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FD7153F-5A26-EB3B-20B5-379637BB49C4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13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B8AF7EE6-2470-7FC8-23C9-2F845D7DCC9C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FE96854-F7D7-151C-E287-231D6B184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167" y="1640137"/>
            <a:ext cx="6722546" cy="415924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32F11DC-4948-E5D3-A2E1-F188C1A537E9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Nach dem Start zeigt die Aktivität Countdown und Live-Fortschritt.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BF2AB52-A335-4F06-B9DB-7CBC3A1392AC}"/>
              </a:ext>
            </a:extLst>
          </p:cNvPr>
          <p:cNvSpPr txBox="1"/>
          <p:nvPr/>
        </p:nvSpPr>
        <p:spPr>
          <a:xfrm>
            <a:off x="9169400" y="25781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Verbleibende Zeit zentral sichtbar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AF5ECE9-696C-C869-F861-1A698A5C395D}"/>
              </a:ext>
            </a:extLst>
          </p:cNvPr>
          <p:cNvSpPr txBox="1"/>
          <p:nvPr/>
        </p:nvSpPr>
        <p:spPr>
          <a:xfrm>
            <a:off x="9169400" y="3492500"/>
            <a:ext cx="2565400" cy="96180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Begonnen und abgegeben im Vergleich (optional wird ebenfalls angezeigt, wie viele Lernende ihre Selbstreflexion abgeschlossen haben)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CC6D412-646E-FF4B-782C-0FE6571A5539}"/>
              </a:ext>
            </a:extLst>
          </p:cNvPr>
          <p:cNvSpPr txBox="1"/>
          <p:nvPr/>
        </p:nvSpPr>
        <p:spPr>
          <a:xfrm>
            <a:off x="9169400" y="4916264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Aktivität kann manuell gestoppt werden</a:t>
            </a:r>
          </a:p>
        </p:txBody>
      </p:sp>
    </p:spTree>
    <p:extLst>
      <p:ext uri="{BB962C8B-B14F-4D97-AF65-F5344CB8AC3E}">
        <p14:creationId xmlns:p14="http://schemas.microsoft.com/office/powerpoint/2010/main" val="1111709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8B91B93-8298-081C-4BDE-053676AE43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1258BF2-E0F6-D803-D293-2296791907F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5C25507-781A-DACB-E8EC-0C0AA839AD74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04 · DURCHFÜHRUNG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27E83BF-61F1-49B8-D0DC-E6C532474D05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Live-Ansicht während der Bearbeitung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66D01EB-2641-5FD5-B9A8-C2EDFDBD4D1B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14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F5FA7F6-982F-4F29-F543-A6C97E046115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2B28A62-C906-874E-3FA3-240DC5670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650" y="1601735"/>
            <a:ext cx="6652440" cy="425288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09945A2-F4BD-D9EF-EB38-63495AF91BA1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Der Fortschritt aktualisiert sich während des gemeinsamen Zeitfensters.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80D5148-84B4-7308-E4A1-52014E26A0DD}"/>
              </a:ext>
            </a:extLst>
          </p:cNvPr>
          <p:cNvSpPr txBox="1"/>
          <p:nvPr/>
        </p:nvSpPr>
        <p:spPr>
          <a:xfrm>
            <a:off x="9169400" y="25781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Aktiver Status klar markiert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870A8BE-C872-10DB-1C37-75F79AA5F60B}"/>
              </a:ext>
            </a:extLst>
          </p:cNvPr>
          <p:cNvSpPr txBox="1"/>
          <p:nvPr/>
        </p:nvSpPr>
        <p:spPr>
          <a:xfrm>
            <a:off x="9169400" y="34925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Bearbeitungs- und Abgabequote</a:t>
            </a:r>
          </a:p>
        </p:txBody>
      </p:sp>
    </p:spTree>
    <p:extLst>
      <p:ext uri="{BB962C8B-B14F-4D97-AF65-F5344CB8AC3E}">
        <p14:creationId xmlns:p14="http://schemas.microsoft.com/office/powerpoint/2010/main" val="3974039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98D9496-8A58-EAA7-0FFE-DD7C60C2E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88EBE6B-D81B-5E57-8FA4-C99003ECD0D5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C23DDFD-137A-8ED4-A8FF-E5FB05D1A77D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04 · DURCHFÜHRUNG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0A9FFF7-CEFD-F7D1-5A73-6AC583F115BB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Schüler:innen bearbeiten die Aufgaben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3B37ABB-6EB5-BF76-7A86-4A3EAD01EE95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15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0C32906-B008-F73C-F630-0F148DC9BCC8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DFCCB9F-1E9B-86D7-8F1D-1EAC7678A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98" y="1558499"/>
            <a:ext cx="6939399" cy="424644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30DEB581-1ECC-77D2-88CB-481565F13EB7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82844"/>
                </a:solidFill>
                <a:latin typeface="Aptos" panose="020B0004020202020204" pitchFamily="34" charset="0"/>
              </a:rPr>
              <a:t>Die Fragen werden über die Moodle-Fragenengine dargestellt.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309E5B6-538E-C66A-7320-7BF711FE58C2}"/>
              </a:ext>
            </a:extLst>
          </p:cNvPr>
          <p:cNvSpPr txBox="1"/>
          <p:nvPr/>
        </p:nvSpPr>
        <p:spPr>
          <a:xfrm>
            <a:off x="9169400" y="25781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Restzeit bleibt oben sichtbar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21F2C6A-7D70-DFAA-C55B-800DA8755042}"/>
              </a:ext>
            </a:extLst>
          </p:cNvPr>
          <p:cNvSpPr txBox="1"/>
          <p:nvPr/>
        </p:nvSpPr>
        <p:spPr>
          <a:xfrm>
            <a:off x="9169400" y="34925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Antwortfelder je Fragetyp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B53B14C-C4A0-4184-4F97-9EB550DABCEA}"/>
              </a:ext>
            </a:extLst>
          </p:cNvPr>
          <p:cNvSpPr txBox="1"/>
          <p:nvPr/>
        </p:nvSpPr>
        <p:spPr>
          <a:xfrm>
            <a:off x="9169400" y="44069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Am Ende Möglichkeit zum Speichern und abschließend abgeben</a:t>
            </a:r>
          </a:p>
        </p:txBody>
      </p:sp>
    </p:spTree>
    <p:extLst>
      <p:ext uri="{BB962C8B-B14F-4D97-AF65-F5344CB8AC3E}">
        <p14:creationId xmlns:p14="http://schemas.microsoft.com/office/powerpoint/2010/main" val="4052981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E64E-E494-F235-63B6-1D5199E88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60D4DBD-E7A7-252E-B7D7-B5E3E07767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D5E0C40-F2D9-0FE0-8182-B78E7F00A62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D1D0E1A-9296-69E4-CF95-880EA5985CFC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04 · DURCHFÜHRUNG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E573010-9D69-8392-D9E5-E90A159971CC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 dirty="0" err="1">
                <a:solidFill>
                  <a:srgbClr val="182844"/>
                </a:solidFill>
                <a:latin typeface="Aptos" panose="020B0004020202020204" pitchFamily="34" charset="0"/>
              </a:rPr>
              <a:t>Schüler:innen</a:t>
            </a:r>
            <a:r>
              <a:rPr lang="de-DE" sz="2700" b="1" dirty="0">
                <a:solidFill>
                  <a:srgbClr val="182844"/>
                </a:solidFill>
                <a:latin typeface="Aptos" panose="020B0004020202020204" pitchFamily="34" charset="0"/>
              </a:rPr>
              <a:t> bearbeiten die Selbstreflexion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1877189-A581-892D-FD85-6DE87906E304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15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1202AAFD-9688-91C0-A4B0-D02378D1E3F2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E6621A3-5883-3734-07DF-53047EC48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6698" y="1595883"/>
            <a:ext cx="6939399" cy="417168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D79769F-08F4-2E54-2BB1-D806D505A4D1}"/>
              </a:ext>
            </a:extLst>
          </p:cNvPr>
          <p:cNvSpPr txBox="1"/>
          <p:nvPr/>
        </p:nvSpPr>
        <p:spPr>
          <a:xfrm>
            <a:off x="9169400" y="1473200"/>
            <a:ext cx="25654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Nach Abgabe der Kopfübung kann optional eine Selbstreflexion und/oder Einschätzung der Aufgabenschwierigkeit stattfinden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37B4E28-7E3C-7AF0-68A5-50FEB3CB5332}"/>
              </a:ext>
            </a:extLst>
          </p:cNvPr>
          <p:cNvSpPr txBox="1"/>
          <p:nvPr/>
        </p:nvSpPr>
        <p:spPr>
          <a:xfrm>
            <a:off x="9169400" y="34925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Erst danach können </a:t>
            </a:r>
            <a:r>
              <a:rPr lang="de-DE" sz="1250" dirty="0" err="1">
                <a:solidFill>
                  <a:srgbClr val="38312E"/>
                </a:solidFill>
                <a:latin typeface="Aptos" panose="020B0004020202020204" pitchFamily="34" charset="0"/>
              </a:rPr>
              <a:t>Schüler:innen</a:t>
            </a:r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 ihre Ergebnisse ansehen</a:t>
            </a:r>
          </a:p>
        </p:txBody>
      </p:sp>
    </p:spTree>
    <p:extLst>
      <p:ext uri="{BB962C8B-B14F-4D97-AF65-F5344CB8AC3E}">
        <p14:creationId xmlns:p14="http://schemas.microsoft.com/office/powerpoint/2010/main" val="430929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36AB49B-6091-2338-2FEF-59A9D9723E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963ABC4-B683-8F8E-F9D3-480998C8A67A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770BDA6-67EA-E23E-335D-E5A5CDBCC58D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04 · DURCHFÜHRUNG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51E8985-9DD9-1667-E344-708CA38D7A87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 dirty="0">
                <a:solidFill>
                  <a:srgbClr val="182844"/>
                </a:solidFill>
                <a:latin typeface="Aptos" panose="020B0004020202020204" pitchFamily="34" charset="0"/>
              </a:rPr>
              <a:t>Nach Abgabe der Kopfübung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A4D937D-EB36-8307-3DBC-D078F21D8739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16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F1C391F-A5AF-AB5E-BAD5-D896759554E7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721DE2E-7803-56F3-31EF-BA73A2C72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145" y="1561721"/>
            <a:ext cx="5903709" cy="436853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3DFBDC20-B0E2-2837-B192-198E4241A334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Nach der Abgabe wechselt die Aktivität in einen klaren Abschlusszustand.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046E8DA-4F62-4447-9867-18699E309187}"/>
              </a:ext>
            </a:extLst>
          </p:cNvPr>
          <p:cNvSpPr txBox="1"/>
          <p:nvPr/>
        </p:nvSpPr>
        <p:spPr>
          <a:xfrm>
            <a:off x="9169400" y="25781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Abgabe ist bestätigt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EB3714B-D7CF-35BE-B5EF-BEC102449490}"/>
              </a:ext>
            </a:extLst>
          </p:cNvPr>
          <p:cNvSpPr txBox="1"/>
          <p:nvPr/>
        </p:nvSpPr>
        <p:spPr>
          <a:xfrm>
            <a:off x="9169400" y="34925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Ergebnisse erst nach Ende verfügbar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E274A2E-AF16-DE06-914C-C09B94872D9D}"/>
              </a:ext>
            </a:extLst>
          </p:cNvPr>
          <p:cNvSpPr txBox="1"/>
          <p:nvPr/>
        </p:nvSpPr>
        <p:spPr>
          <a:xfrm>
            <a:off x="9169400" y="44069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Kopfübungsübersicht ist auch als eigene Aktivität auf der Kursseite </a:t>
            </a:r>
            <a:r>
              <a:rPr lang="de-DE" sz="1250" dirty="0" err="1">
                <a:solidFill>
                  <a:srgbClr val="38312E"/>
                </a:solidFill>
                <a:latin typeface="Aptos" panose="020B0004020202020204" pitchFamily="34" charset="0"/>
              </a:rPr>
              <a:t>einbindbar</a:t>
            </a:r>
            <a:endParaRPr lang="de-DE" sz="1250" dirty="0">
              <a:solidFill>
                <a:srgbClr val="38312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005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E97D407-27EA-EB3C-D4D0-AD4A0B672E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3E4D446-6D35-5CBA-782D-A98D53B8813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78CB178-0738-772A-5FEE-23E305D06C6A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05 · ANALYSE · LEHRKRAFT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C2BA708-5437-7D19-950D-D20D326084DE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5. Klassenübersicht über mehrere Übungen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C1803FB-A438-C36C-5E6E-83DA74829EBB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17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AB280B3-4592-757B-2F73-AB144D09A77B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275EC6-3A7A-A738-58DC-8A94B1E35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013" y="1614008"/>
            <a:ext cx="6909278" cy="424674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476B702-6CC5-2E03-6A7D-4070B9C85221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Die Kopfübungsübersicht zeigt Lernstände nach Themen und Zeitverlauf.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3316AC4-A41D-88DF-CCA2-E5605E924E77}"/>
              </a:ext>
            </a:extLst>
          </p:cNvPr>
          <p:cNvSpPr txBox="1"/>
          <p:nvPr/>
        </p:nvSpPr>
        <p:spPr>
          <a:xfrm>
            <a:off x="9169400" y="25781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Alle Kursteilnehmenden vergleichen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221E280-BAD9-7A60-3F7D-09B04BF43388}"/>
              </a:ext>
            </a:extLst>
          </p:cNvPr>
          <p:cNvSpPr txBox="1"/>
          <p:nvPr/>
        </p:nvSpPr>
        <p:spPr>
          <a:xfrm>
            <a:off x="9169400" y="34925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Richtigquoten je Aufgabenposition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D9090BA-5445-1461-F4B3-D9C54F8D1DD4}"/>
              </a:ext>
            </a:extLst>
          </p:cNvPr>
          <p:cNvSpPr txBox="1"/>
          <p:nvPr/>
        </p:nvSpPr>
        <p:spPr>
          <a:xfrm>
            <a:off x="9169400" y="44069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Erstellung mehrerer Raster und Zusatzangebote möglich (z.B. nach Halbjahr)</a:t>
            </a:r>
          </a:p>
        </p:txBody>
      </p:sp>
    </p:spTree>
    <p:extLst>
      <p:ext uri="{BB962C8B-B14F-4D97-AF65-F5344CB8AC3E}">
        <p14:creationId xmlns:p14="http://schemas.microsoft.com/office/powerpoint/2010/main" val="1452931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D3AB4C0-E2D7-56D2-D96C-F5872DFD72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64BD45C-DA9A-F6B0-7383-353E72478042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1082323-8970-C4F8-6D4B-FCE21D57EF7B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05 · ANALYSE · INDIVIDUELL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E2F37BF-25C6-A9F0-FBF1-3E691BD4043E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Individuelle Lernstandsübersicht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1946790-0EE0-569C-B23A-30F21DCA9E9C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18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1B756AFE-374B-7FE9-72DB-165DB844D614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0DE6B87-378F-4018-2686-537A605BF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591" y="1659330"/>
            <a:ext cx="6811531" cy="415232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5DA4D4A-AE24-0A36-6495-9242B0BCD1D1}"/>
              </a:ext>
            </a:extLst>
          </p:cNvPr>
          <p:cNvSpPr txBox="1"/>
          <p:nvPr/>
        </p:nvSpPr>
        <p:spPr>
          <a:xfrm>
            <a:off x="9169400" y="1473200"/>
            <a:ext cx="2565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82844"/>
                </a:solidFill>
                <a:latin typeface="Aptos" panose="020B0004020202020204" pitchFamily="34" charset="0"/>
              </a:rPr>
              <a:t>Für eine Person werden Ergebnisse und Klassenvergleich gegenübergestellt.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4991F54-1A9A-7746-477E-E92193038493}"/>
              </a:ext>
            </a:extLst>
          </p:cNvPr>
          <p:cNvSpPr txBox="1"/>
          <p:nvPr/>
        </p:nvSpPr>
        <p:spPr>
          <a:xfrm>
            <a:off x="9169400" y="25781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Es kann nach Einzelergebnissen von einzelnen </a:t>
            </a:r>
            <a:r>
              <a:rPr lang="de-DE" sz="1250" dirty="0" err="1">
                <a:solidFill>
                  <a:srgbClr val="38312E"/>
                </a:solidFill>
                <a:latin typeface="Aptos" panose="020B0004020202020204" pitchFamily="34" charset="0"/>
              </a:rPr>
              <a:t>Schüler:innen</a:t>
            </a:r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 gefiltert werden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B9DA3E8-263B-2E04-9A5D-966491C9C3E5}"/>
              </a:ext>
            </a:extLst>
          </p:cNvPr>
          <p:cNvSpPr txBox="1"/>
          <p:nvPr/>
        </p:nvSpPr>
        <p:spPr>
          <a:xfrm>
            <a:off x="9169400" y="34925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Selbsteinschätzung und Schwierigkeit werden ebenfalls angezeigt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34900D5-48EE-1F31-8931-BCAF26B79B13}"/>
              </a:ext>
            </a:extLst>
          </p:cNvPr>
          <p:cNvSpPr txBox="1"/>
          <p:nvPr/>
        </p:nvSpPr>
        <p:spPr>
          <a:xfrm>
            <a:off x="9169400" y="44069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Summen und Entwicklung über Zeit sichtbar in letzter Zeile (nicht in diesem Screenshot)</a:t>
            </a:r>
          </a:p>
        </p:txBody>
      </p:sp>
    </p:spTree>
    <p:extLst>
      <p:ext uri="{BB962C8B-B14F-4D97-AF65-F5344CB8AC3E}">
        <p14:creationId xmlns:p14="http://schemas.microsoft.com/office/powerpoint/2010/main" val="681329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09734E8-5C36-2B3F-5BAE-5677CF0B5D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9A4EF9C-2DBC-DEE1-907C-EF0069AEBE06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4084BA4-1829-7D1A-0AB6-BA011E203F99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 dirty="0">
                <a:solidFill>
                  <a:srgbClr val="166DC9"/>
                </a:solidFill>
                <a:latin typeface="Aptos" panose="020B0004020202020204" pitchFamily="34" charset="0"/>
              </a:rPr>
              <a:t>05 · ANALYSE · INDIVIDUELL VON SCHÜLER:INNEN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B6C1DE5-4A9D-7FEE-6EEB-D4064D2FC67C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 dirty="0">
                <a:solidFill>
                  <a:srgbClr val="182844"/>
                </a:solidFill>
                <a:latin typeface="Aptos" panose="020B0004020202020204" pitchFamily="34" charset="0"/>
              </a:rPr>
              <a:t>Individuelle Übersicht mit Förderhinweisen für </a:t>
            </a:r>
            <a:r>
              <a:rPr lang="de-DE" sz="2700" b="1" dirty="0" err="1">
                <a:solidFill>
                  <a:srgbClr val="182844"/>
                </a:solidFill>
                <a:latin typeface="Aptos" panose="020B0004020202020204" pitchFamily="34" charset="0"/>
              </a:rPr>
              <a:t>Schüler:innen</a:t>
            </a:r>
            <a:endParaRPr lang="de-DE" sz="2700" b="1" dirty="0">
              <a:solidFill>
                <a:srgbClr val="182844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17E384A-8595-4247-ECCB-98749F742664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19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2C9777F-8529-AFA5-0AD6-CAFC54467951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8CCA82E-5305-8D41-0D67-AD12746A0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21" y="1614008"/>
            <a:ext cx="6799302" cy="413014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2B5E002-2809-107F-1B38-7BFC353CF835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Warnsymbole markieren verfügbare Zusatzangebote für </a:t>
            </a:r>
            <a:r>
              <a:rPr lang="de-DE" sz="1500" b="1" dirty="0" err="1">
                <a:solidFill>
                  <a:srgbClr val="182844"/>
                </a:solidFill>
                <a:latin typeface="Aptos" panose="020B0004020202020204" pitchFamily="34" charset="0"/>
              </a:rPr>
              <a:t>Schüler:innen</a:t>
            </a:r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6B1DB83-E3AB-104B-5212-ACDD227810E2}"/>
              </a:ext>
            </a:extLst>
          </p:cNvPr>
          <p:cNvSpPr txBox="1"/>
          <p:nvPr/>
        </p:nvSpPr>
        <p:spPr>
          <a:xfrm>
            <a:off x="9169400" y="25781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Lernbedarf themenbezogen erkennen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C9A4CAF-C119-83A3-B0D4-DEB293B02BB5}"/>
              </a:ext>
            </a:extLst>
          </p:cNvPr>
          <p:cNvSpPr txBox="1"/>
          <p:nvPr/>
        </p:nvSpPr>
        <p:spPr>
          <a:xfrm>
            <a:off x="9169400" y="34925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Angebote direkt aus der Matrix öffnen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2E4DA83-8001-FC2F-997D-179893CB9407}"/>
              </a:ext>
            </a:extLst>
          </p:cNvPr>
          <p:cNvSpPr txBox="1"/>
          <p:nvPr/>
        </p:nvSpPr>
        <p:spPr>
          <a:xfrm>
            <a:off x="9169400" y="44069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Mehrere Aufgabenraster werden unterstützt</a:t>
            </a:r>
          </a:p>
        </p:txBody>
      </p:sp>
    </p:spTree>
    <p:extLst>
      <p:ext uri="{BB962C8B-B14F-4D97-AF65-F5344CB8AC3E}">
        <p14:creationId xmlns:p14="http://schemas.microsoft.com/office/powerpoint/2010/main" val="2555674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5EAEEDC-45F1-F4A0-8285-E07BE3BD23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5B9CB4A-660C-64B4-4CE7-DBE90211F778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ED0F4BD-7697-A3B3-3203-D0BE831C112A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 dirty="0">
                <a:solidFill>
                  <a:srgbClr val="166DC9"/>
                </a:solidFill>
                <a:latin typeface="Aptos" panose="020B0004020202020204" pitchFamily="34" charset="0"/>
              </a:rPr>
              <a:t>05 · ANALYSE · DETAIL LEHRPERSON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091884-C67D-4096-9CAF-3503C0BD40C0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Aufgabendetail auf Klassenebene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DFCCD75-D9AF-FBCA-4320-4C627CD6C935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20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09C5102-63DC-528F-5B5A-297D5D11EA61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920D811-6212-0CAD-7964-B3E30CDA3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680" y="1901964"/>
            <a:ext cx="4984240" cy="361287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FEE4324-F2A6-F868-01AA-DF7A078E2113}"/>
              </a:ext>
            </a:extLst>
          </p:cNvPr>
          <p:cNvSpPr txBox="1"/>
          <p:nvPr/>
        </p:nvSpPr>
        <p:spPr>
          <a:xfrm>
            <a:off x="9169400" y="1473200"/>
            <a:ext cx="2565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Eine Zelle lässt sich in </a:t>
            </a:r>
            <a:r>
              <a:rPr lang="de-DE" sz="1500" b="1" dirty="0" err="1">
                <a:solidFill>
                  <a:srgbClr val="182844"/>
                </a:solidFill>
                <a:latin typeface="Aptos" panose="020B0004020202020204" pitchFamily="34" charset="0"/>
              </a:rPr>
              <a:t>Anschicht</a:t>
            </a:r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 für Lehrpersonen bis auf </a:t>
            </a:r>
            <a:r>
              <a:rPr lang="de-DE" sz="1500" b="1" dirty="0" err="1">
                <a:solidFill>
                  <a:srgbClr val="182844"/>
                </a:solidFill>
                <a:latin typeface="Aptos" panose="020B0004020202020204" pitchFamily="34" charset="0"/>
              </a:rPr>
              <a:t>Teilnehmendenebene</a:t>
            </a:r>
            <a:r>
              <a:rPr lang="de-DE" sz="1500" b="1" dirty="0">
                <a:solidFill>
                  <a:srgbClr val="182844"/>
                </a:solidFill>
                <a:latin typeface="Aptos" panose="020B0004020202020204" pitchFamily="34" charset="0"/>
              </a:rPr>
              <a:t> aufschlüsseln.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7946F54-B56A-35D8-7AF5-4DBE07CAA3C5}"/>
              </a:ext>
            </a:extLst>
          </p:cNvPr>
          <p:cNvSpPr txBox="1"/>
          <p:nvPr/>
        </p:nvSpPr>
        <p:spPr>
          <a:xfrm>
            <a:off x="9169400" y="25781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Ergebnis pro Person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E01F187-9CE2-5D15-9649-28B1E9FAB0C3}"/>
              </a:ext>
            </a:extLst>
          </p:cNvPr>
          <p:cNvSpPr txBox="1"/>
          <p:nvPr/>
        </p:nvSpPr>
        <p:spPr>
          <a:xfrm>
            <a:off x="9169400" y="34925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Selbst- und Schwierigkeitseinschätzung (falls vorhanden)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18A6DDE-E444-DC84-5953-D249B95BFF7C}"/>
              </a:ext>
            </a:extLst>
          </p:cNvPr>
          <p:cNvSpPr txBox="1"/>
          <p:nvPr/>
        </p:nvSpPr>
        <p:spPr>
          <a:xfrm>
            <a:off x="9169400" y="44069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Direkter Weg zur Nachbesprechung</a:t>
            </a:r>
          </a:p>
        </p:txBody>
      </p:sp>
    </p:spTree>
    <p:extLst>
      <p:ext uri="{BB962C8B-B14F-4D97-AF65-F5344CB8AC3E}">
        <p14:creationId xmlns:p14="http://schemas.microsoft.com/office/powerpoint/2010/main" val="3396022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FBE0147-B236-8CCA-2FE0-746780CC8F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09DB9A5-3F5C-F620-B375-57F3D819A6D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88BDB57-3675-6760-8641-63C8957E8103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 dirty="0">
                <a:solidFill>
                  <a:srgbClr val="166DC9"/>
                </a:solidFill>
                <a:latin typeface="Aptos" panose="020B0004020202020204" pitchFamily="34" charset="0"/>
              </a:rPr>
              <a:t>05 · ANALYSE · DETAIL LEHRPERSON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6705D1-3B4E-F7E9-4EBA-6DF71A74EA55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Nachbesprechung des abgegebenen Versuchs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1593776-FD27-6A3E-E357-6F999A22E32F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21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C6AC950-FBBF-026B-343A-77776ABB0871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A8FCFCD-C9B0-6033-5F6E-ED4C97F5B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89" y="1601735"/>
            <a:ext cx="7021329" cy="425288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9A15534-F0A3-20CA-82D7-8C57BAE9923E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82844"/>
                </a:solidFill>
                <a:latin typeface="Aptos" panose="020B0004020202020204" pitchFamily="34" charset="0"/>
              </a:rPr>
              <a:t>Die vollständige Review-Ansicht erklärt Bewertung und Lösung.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95CB356-ACC4-FD4F-F24B-C3CE9D687897}"/>
              </a:ext>
            </a:extLst>
          </p:cNvPr>
          <p:cNvSpPr txBox="1"/>
          <p:nvPr/>
        </p:nvSpPr>
        <p:spPr>
          <a:xfrm>
            <a:off x="9169400" y="25781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Abgegebene Antwort für </a:t>
            </a:r>
            <a:r>
              <a:rPr lang="de-DE" sz="1250" dirty="0" err="1">
                <a:solidFill>
                  <a:srgbClr val="38312E"/>
                </a:solidFill>
                <a:latin typeface="Aptos" panose="020B0004020202020204" pitchFamily="34" charset="0"/>
              </a:rPr>
              <a:t>Schüler:innen</a:t>
            </a:r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 als auch Lehrpersonen zur Analyse einsehbar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52A6FCA-23B1-9FBE-0F41-EE487ABD3F32}"/>
              </a:ext>
            </a:extLst>
          </p:cNvPr>
          <p:cNvSpPr txBox="1"/>
          <p:nvPr/>
        </p:nvSpPr>
        <p:spPr>
          <a:xfrm>
            <a:off x="9169400" y="34925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Auswertung und </a:t>
            </a:r>
            <a:r>
              <a:rPr lang="de-DE" sz="1250" dirty="0" err="1">
                <a:solidFill>
                  <a:srgbClr val="38312E"/>
                </a:solidFill>
                <a:latin typeface="Aptos" panose="020B0004020202020204" pitchFamily="34" charset="0"/>
              </a:rPr>
              <a:t>Moodle</a:t>
            </a:r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-Feedback wie üblich aus Fragenkatalog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5D98589-9936-0646-1DA9-D53FEA9BDB32}"/>
              </a:ext>
            </a:extLst>
          </p:cNvPr>
          <p:cNvSpPr txBox="1"/>
          <p:nvPr/>
        </p:nvSpPr>
        <p:spPr>
          <a:xfrm>
            <a:off x="9169400" y="44069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Selbstreflexion im Kontext</a:t>
            </a:r>
          </a:p>
        </p:txBody>
      </p:sp>
    </p:spTree>
    <p:extLst>
      <p:ext uri="{BB962C8B-B14F-4D97-AF65-F5344CB8AC3E}">
        <p14:creationId xmlns:p14="http://schemas.microsoft.com/office/powerpoint/2010/main" val="863639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E7C177F-8498-7CAC-891E-A7B81D6D7A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3A755EE-4158-7428-FBD6-86B6BD844B7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EEA631C-7524-593A-A5E4-BE0F9AEF07FD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 dirty="0">
                <a:solidFill>
                  <a:srgbClr val="166DC9"/>
                </a:solidFill>
                <a:latin typeface="Aptos" panose="020B0004020202020204" pitchFamily="34" charset="0"/>
              </a:rPr>
              <a:t>06 · FÖRDERUNG · LEHRPERSON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67946F4-C071-C684-B2AE-0C8F60A50D2E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6. Zusatzangebot konfigurieren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62DA70B-0DFD-8BB0-E1D3-4898DBE91A82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22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5E1911D-E7A6-F42B-8CAA-BA844D1DFC37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21235CA-F133-C8B6-E6CB-554796E77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42" y="1558498"/>
            <a:ext cx="7322347" cy="427770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38890833-2BF2-D261-23AA-7D9FABB6D658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82844"/>
                </a:solidFill>
                <a:latin typeface="Aptos" panose="020B0004020202020204" pitchFamily="34" charset="0"/>
              </a:rPr>
              <a:t>Diagnostische Ergebnisse werden mit konkretem Lernmaterial verbunden.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9DE3D1B-D7BE-A887-8759-1350FDAFBC9C}"/>
              </a:ext>
            </a:extLst>
          </p:cNvPr>
          <p:cNvSpPr txBox="1"/>
          <p:nvPr/>
        </p:nvSpPr>
        <p:spPr>
          <a:xfrm>
            <a:off x="9169400" y="2578100"/>
            <a:ext cx="25654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Hinweistext und Grenzwert können festlegt werden, wann </a:t>
            </a:r>
            <a:r>
              <a:rPr lang="de-DE" sz="1250" dirty="0" err="1">
                <a:solidFill>
                  <a:srgbClr val="38312E"/>
                </a:solidFill>
                <a:latin typeface="Aptos" panose="020B0004020202020204" pitchFamily="34" charset="0"/>
              </a:rPr>
              <a:t>ein:e</a:t>
            </a:r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 </a:t>
            </a:r>
            <a:r>
              <a:rPr lang="de-DE" sz="1250" dirty="0" err="1">
                <a:solidFill>
                  <a:srgbClr val="38312E"/>
                </a:solidFill>
                <a:latin typeface="Aptos" panose="020B0004020202020204" pitchFamily="34" charset="0"/>
              </a:rPr>
              <a:t>Schüler:in</a:t>
            </a:r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 ein Förderangebot bekommt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155C52B-37FD-B8CB-29BD-437FAB058140}"/>
              </a:ext>
            </a:extLst>
          </p:cNvPr>
          <p:cNvSpPr txBox="1"/>
          <p:nvPr/>
        </p:nvSpPr>
        <p:spPr>
          <a:xfrm>
            <a:off x="9169400" y="3492500"/>
            <a:ext cx="2565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Man kann sowohl Erklärungen als auch Übungsaufgaben verlinken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B2F5EC8-65D4-EAE4-B57C-C7BE1E2EBCEC}"/>
              </a:ext>
            </a:extLst>
          </p:cNvPr>
          <p:cNvSpPr txBox="1"/>
          <p:nvPr/>
        </p:nvSpPr>
        <p:spPr>
          <a:xfrm>
            <a:off x="9169400" y="4406900"/>
            <a:ext cx="2565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Individuell können einzelnen Lernenden direkt Zusatzangebote zugewiesen werden (z.B. wenn diese es wünschen) auch wenn der eingestellte Grenzwert nicht erreicht wurde</a:t>
            </a:r>
          </a:p>
        </p:txBody>
      </p:sp>
    </p:spTree>
    <p:extLst>
      <p:ext uri="{BB962C8B-B14F-4D97-AF65-F5344CB8AC3E}">
        <p14:creationId xmlns:p14="http://schemas.microsoft.com/office/powerpoint/2010/main" val="2386335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645421B-E86E-532B-E202-4916301738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6389609-E34C-ED9F-3034-320B1E80CE35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78E448F-A66C-428B-8E63-153BE9232673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06 · FÖRDERUNG · SCHÜLER:INNEN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1E20214-4C41-9C7F-1E43-20B8A10898DF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 dirty="0" err="1">
                <a:solidFill>
                  <a:srgbClr val="182844"/>
                </a:solidFill>
                <a:latin typeface="Aptos" panose="020B0004020202020204" pitchFamily="34" charset="0"/>
              </a:rPr>
              <a:t>Schüler:innenansicht</a:t>
            </a:r>
            <a:r>
              <a:rPr lang="de-DE" sz="2700" b="1" dirty="0">
                <a:solidFill>
                  <a:srgbClr val="182844"/>
                </a:solidFill>
                <a:latin typeface="Aptos" panose="020B0004020202020204" pitchFamily="34" charset="0"/>
              </a:rPr>
              <a:t> des Zusatzangebots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6007919-F845-1FCF-5CF0-F61CF7167BC5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23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05451EF-EBFA-EA60-BB56-2E0308223A1F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A45A55D-B46E-CCD4-88F6-EC68DC175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78" y="1730608"/>
            <a:ext cx="7563541" cy="394603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D08AD5E-65B0-9602-3254-A5D322553EE6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82844"/>
                </a:solidFill>
                <a:latin typeface="Aptos" panose="020B0004020202020204" pitchFamily="34" charset="0"/>
              </a:rPr>
              <a:t>Passende Erklärungen und Übungen erscheinen themenbezogen.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3F4C54E-7E02-9823-EE79-94A560C93277}"/>
              </a:ext>
            </a:extLst>
          </p:cNvPr>
          <p:cNvSpPr txBox="1"/>
          <p:nvPr/>
        </p:nvSpPr>
        <p:spPr>
          <a:xfrm>
            <a:off x="9169400" y="25781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Transparente Angabe des Grunds  für die Zuteilung eines Zusatzangebots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388A7D5-4995-08D1-070C-A97D005AD3E4}"/>
              </a:ext>
            </a:extLst>
          </p:cNvPr>
          <p:cNvSpPr txBox="1"/>
          <p:nvPr/>
        </p:nvSpPr>
        <p:spPr>
          <a:xfrm>
            <a:off x="9169400" y="3492500"/>
            <a:ext cx="2565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Es kann sowohl Kursmaterial als auch externe Links zur Verfügung gestellt werden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3DA26C2-9023-B983-8373-F17EFDCFD6E1}"/>
              </a:ext>
            </a:extLst>
          </p:cNvPr>
          <p:cNvSpPr txBox="1"/>
          <p:nvPr/>
        </p:nvSpPr>
        <p:spPr>
          <a:xfrm>
            <a:off x="9169400" y="44069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 dirty="0">
                <a:solidFill>
                  <a:srgbClr val="38312E"/>
                </a:solidFill>
                <a:latin typeface="Aptos" panose="020B0004020202020204" pitchFamily="34" charset="0"/>
              </a:rPr>
              <a:t>•  Direkter Rückweg zur Übersicht</a:t>
            </a:r>
          </a:p>
        </p:txBody>
      </p:sp>
    </p:spTree>
    <p:extLst>
      <p:ext uri="{BB962C8B-B14F-4D97-AF65-F5344CB8AC3E}">
        <p14:creationId xmlns:p14="http://schemas.microsoft.com/office/powerpoint/2010/main" val="2791379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9F32B18-BA42-BAB6-C404-A56E3829C45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66DC9"/>
          </a:solidFill>
          <a:ln w="12700">
            <a:solidFill>
              <a:srgbClr val="166D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38178BA-A5D1-997A-5689-EAE0AB8C51DA}"/>
              </a:ext>
            </a:extLst>
          </p:cNvPr>
          <p:cNvSpPr txBox="1"/>
          <p:nvPr/>
        </p:nvSpPr>
        <p:spPr>
          <a:xfrm>
            <a:off x="533400" y="3302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000" b="1">
                <a:solidFill>
                  <a:srgbClr val="166DC9"/>
                </a:solidFill>
                <a:latin typeface="Aptos" panose="020B0004020202020204" pitchFamily="34" charset="0"/>
              </a:rPr>
              <a:t>06 · FÖRDERUNG · SCHÜLER:INNEN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206DD01-95C4-F4D6-3641-F46A7A43ADA6}"/>
              </a:ext>
            </a:extLst>
          </p:cNvPr>
          <p:cNvSpPr txBox="1"/>
          <p:nvPr/>
        </p:nvSpPr>
        <p:spPr>
          <a:xfrm>
            <a:off x="533400" y="6350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2700" b="1">
                <a:solidFill>
                  <a:srgbClr val="182844"/>
                </a:solidFill>
                <a:latin typeface="Aptos" panose="020B0004020202020204" pitchFamily="34" charset="0"/>
              </a:rPr>
              <a:t>Persönliches Feedback für Schüler:innen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66AD4F4-C60B-F335-9978-384481FB238C}"/>
              </a:ext>
            </a:extLst>
          </p:cNvPr>
          <p:cNvSpPr txBox="1"/>
          <p:nvPr/>
        </p:nvSpPr>
        <p:spPr>
          <a:xfrm>
            <a:off x="10414000" y="65278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900">
                <a:solidFill>
                  <a:srgbClr val="837B77"/>
                </a:solidFill>
                <a:latin typeface="Aptos" panose="020B0004020202020204" pitchFamily="34" charset="0"/>
              </a:rPr>
              <a:t>Kopfübung · 24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E071176-E22C-7376-B941-18E45561F169}"/>
              </a:ext>
            </a:extLst>
          </p:cNvPr>
          <p:cNvSpPr/>
          <p:nvPr/>
        </p:nvSpPr>
        <p:spPr>
          <a:xfrm>
            <a:off x="393700" y="1308100"/>
            <a:ext cx="8458200" cy="4800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E8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4AFBC8C-E785-557E-1576-F8646A434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18" y="2436353"/>
            <a:ext cx="7534443" cy="257136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EF4857E9-11DB-7096-A48E-37DC3869B029}"/>
              </a:ext>
            </a:extLst>
          </p:cNvPr>
          <p:cNvSpPr txBox="1"/>
          <p:nvPr/>
        </p:nvSpPr>
        <p:spPr>
          <a:xfrm>
            <a:off x="9169400" y="1473200"/>
            <a:ext cx="256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500" b="1">
                <a:solidFill>
                  <a:srgbClr val="182844"/>
                </a:solidFill>
                <a:latin typeface="Aptos" panose="020B0004020202020204" pitchFamily="34" charset="0"/>
              </a:rPr>
              <a:t>Die persönliche Rückmeldung ergänzt die automatisierte Diagnose.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4BF9C9-DE60-552F-28C3-C7FF933474FE}"/>
              </a:ext>
            </a:extLst>
          </p:cNvPr>
          <p:cNvSpPr txBox="1"/>
          <p:nvPr/>
        </p:nvSpPr>
        <p:spPr>
          <a:xfrm>
            <a:off x="9169400" y="2578100"/>
            <a:ext cx="2565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e-DE" sz="1250">
                <a:solidFill>
                  <a:srgbClr val="38312E"/>
                </a:solidFill>
                <a:latin typeface="Aptos" panose="020B0004020202020204" pitchFamily="34" charset="0"/>
              </a:rPr>
              <a:t>•  Individuelle Nachricht der Lehrkraft</a:t>
            </a:r>
          </a:p>
        </p:txBody>
      </p:sp>
    </p:spTree>
    <p:extLst>
      <p:ext uri="{BB962C8B-B14F-4D97-AF65-F5344CB8AC3E}">
        <p14:creationId xmlns:p14="http://schemas.microsoft.com/office/powerpoint/2010/main" val="40842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Microsoft Office PowerPoint</Application>
  <PresentationFormat>Breitbild</PresentationFormat>
  <Paragraphs>176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Yannic Kalka</dc:creator>
  <cp:lastModifiedBy>Yannic Kalka</cp:lastModifiedBy>
  <cp:revision>11</cp:revision>
  <dcterms:created xsi:type="dcterms:W3CDTF">2026-08-13T18:45:00Z</dcterms:created>
  <dcterms:modified xsi:type="dcterms:W3CDTF">2026-08-13T20:04:00Z</dcterms:modified>
</cp:coreProperties>
</file>